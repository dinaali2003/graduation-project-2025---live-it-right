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67" r:id="rId3"/>
    <p:sldId id="257" r:id="rId4"/>
    <p:sldId id="268" r:id="rId5"/>
    <p:sldId id="258" r:id="rId6"/>
    <p:sldId id="259" r:id="rId7"/>
    <p:sldId id="262" r:id="rId8"/>
    <p:sldId id="260" r:id="rId9"/>
    <p:sldId id="265" r:id="rId10"/>
    <p:sldId id="273" r:id="rId11"/>
    <p:sldId id="271" r:id="rId12"/>
    <p:sldId id="261" r:id="rId13"/>
    <p:sldId id="264" r:id="rId14"/>
    <p:sldId id="272" r:id="rId15"/>
  </p:sldIdLst>
  <p:sldSz cx="18288000" cy="10287000"/>
  <p:notesSz cx="6858000" cy="9144000"/>
  <p:embeddedFontLst>
    <p:embeddedFont>
      <p:font typeface="Berlin Sans FB Demi" panose="020E0802020502020306" pitchFamily="34" charset="0"/>
      <p:bold r:id="rId17"/>
    </p:embeddedFont>
    <p:embeddedFont>
      <p:font typeface="Bubblebody Neue Bold" panose="020B0604020202020204" charset="0"/>
      <p:regular r:id="rId18"/>
    </p:embeddedFon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Canva Sans" panose="020B0604020202020204" charset="0"/>
      <p:regular r:id="rId23"/>
    </p:embeddedFont>
    <p:embeddedFont>
      <p:font typeface="Canva Sans Bold" panose="020B0604020202020204" charset="0"/>
      <p:regular r:id="rId24"/>
    </p:embeddedFont>
    <p:embeddedFont>
      <p:font typeface="Comic Sans MS" panose="030F0702030302020204" pitchFamily="66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3E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681CCA-AA20-42B2-96D7-4DB53E5F1855}" v="174" dt="2025-06-01T10:58:26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48" autoAdjust="0"/>
  </p:normalViewPr>
  <p:slideViewPr>
    <p:cSldViewPr>
      <p:cViewPr>
        <p:scale>
          <a:sx n="50" d="100"/>
          <a:sy n="50" d="100"/>
        </p:scale>
        <p:origin x="58" y="2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hab Hibah" userId="02a211e71c5bb651" providerId="LiveId" clId="{A9681CCA-AA20-42B2-96D7-4DB53E5F1855}"/>
    <pc:docChg chg="undo custSel modSld">
      <pc:chgData name="Ehab Hibah" userId="02a211e71c5bb651" providerId="LiveId" clId="{A9681CCA-AA20-42B2-96D7-4DB53E5F1855}" dt="2025-06-01T10:58:26.222" v="193" actId="20577"/>
      <pc:docMkLst>
        <pc:docMk/>
      </pc:docMkLst>
      <pc:sldChg chg="modSp mod modAnim">
        <pc:chgData name="Ehab Hibah" userId="02a211e71c5bb651" providerId="LiveId" clId="{A9681CCA-AA20-42B2-96D7-4DB53E5F1855}" dt="2025-06-01T10:55:52.516" v="139" actId="1076"/>
        <pc:sldMkLst>
          <pc:docMk/>
          <pc:sldMk cId="0" sldId="259"/>
        </pc:sldMkLst>
        <pc:spChg chg="mod">
          <ac:chgData name="Ehab Hibah" userId="02a211e71c5bb651" providerId="LiveId" clId="{A9681CCA-AA20-42B2-96D7-4DB53E5F1855}" dt="2025-06-01T10:54:29.675" v="128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Ehab Hibah" userId="02a211e71c5bb651" providerId="LiveId" clId="{A9681CCA-AA20-42B2-96D7-4DB53E5F1855}" dt="2025-06-01T10:55:52.516" v="139" actId="1076"/>
          <ac:spMkLst>
            <pc:docMk/>
            <pc:sldMk cId="0" sldId="259"/>
            <ac:spMk id="9" creationId="{00000000-0000-0000-0000-000000000000}"/>
          </ac:spMkLst>
        </pc:spChg>
        <pc:picChg chg="mod">
          <ac:chgData name="Ehab Hibah" userId="02a211e71c5bb651" providerId="LiveId" clId="{A9681CCA-AA20-42B2-96D7-4DB53E5F1855}" dt="2025-06-01T10:55:03.600" v="136" actId="1076"/>
          <ac:picMkLst>
            <pc:docMk/>
            <pc:sldMk cId="0" sldId="259"/>
            <ac:picMk id="5131" creationId="{00000000-0000-0000-0000-000000000000}"/>
          </ac:picMkLst>
        </pc:picChg>
        <pc:picChg chg="mod">
          <ac:chgData name="Ehab Hibah" userId="02a211e71c5bb651" providerId="LiveId" clId="{A9681CCA-AA20-42B2-96D7-4DB53E5F1855}" dt="2025-06-01T10:54:58.686" v="135" actId="14100"/>
          <ac:picMkLst>
            <pc:docMk/>
            <pc:sldMk cId="0" sldId="259"/>
            <ac:picMk id="5133" creationId="{00000000-0000-0000-0000-000000000000}"/>
          </ac:picMkLst>
        </pc:picChg>
      </pc:sldChg>
      <pc:sldChg chg="modSp mod modAnim">
        <pc:chgData name="Ehab Hibah" userId="02a211e71c5bb651" providerId="LiveId" clId="{A9681CCA-AA20-42B2-96D7-4DB53E5F1855}" dt="2025-06-01T10:58:26.222" v="193" actId="20577"/>
        <pc:sldMkLst>
          <pc:docMk/>
          <pc:sldMk cId="0" sldId="262"/>
        </pc:sldMkLst>
        <pc:spChg chg="mod">
          <ac:chgData name="Ehab Hibah" userId="02a211e71c5bb651" providerId="LiveId" clId="{A9681CCA-AA20-42B2-96D7-4DB53E5F1855}" dt="2025-06-01T10:58:26.222" v="193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Ehab Hibah" userId="02a211e71c5bb651" providerId="LiveId" clId="{A9681CCA-AA20-42B2-96D7-4DB53E5F1855}" dt="2025-06-01T07:31:06.369" v="55" actId="1076"/>
          <ac:spMkLst>
            <pc:docMk/>
            <pc:sldMk cId="0" sldId="262"/>
            <ac:spMk id="13" creationId="{2DDFD4A5-EE26-C30D-4ECC-E9A33F79F931}"/>
          </ac:spMkLst>
        </pc:spChg>
        <pc:spChg chg="mod">
          <ac:chgData name="Ehab Hibah" userId="02a211e71c5bb651" providerId="LiveId" clId="{A9681CCA-AA20-42B2-96D7-4DB53E5F1855}" dt="2025-06-01T07:28:01.990" v="30" actId="1076"/>
          <ac:spMkLst>
            <pc:docMk/>
            <pc:sldMk cId="0" sldId="262"/>
            <ac:spMk id="17" creationId="{D8E76D8F-901D-3E23-1EF9-009E3D363831}"/>
          </ac:spMkLst>
        </pc:spChg>
        <pc:picChg chg="mod">
          <ac:chgData name="Ehab Hibah" userId="02a211e71c5bb651" providerId="LiveId" clId="{A9681CCA-AA20-42B2-96D7-4DB53E5F1855}" dt="2025-06-01T07:33:44.382" v="68" actId="1076"/>
          <ac:picMkLst>
            <pc:docMk/>
            <pc:sldMk cId="0" sldId="262"/>
            <ac:picMk id="2060" creationId="{26B92C3C-45D9-849A-BD69-C6ED25A01B06}"/>
          </ac:picMkLst>
        </pc:picChg>
        <pc:picChg chg="mod">
          <ac:chgData name="Ehab Hibah" userId="02a211e71c5bb651" providerId="LiveId" clId="{A9681CCA-AA20-42B2-96D7-4DB53E5F1855}" dt="2025-06-01T07:26:17.060" v="11" actId="1076"/>
          <ac:picMkLst>
            <pc:docMk/>
            <pc:sldMk cId="0" sldId="262"/>
            <ac:picMk id="2076" creationId="{88266959-C0ED-2E26-0BE3-3EE3DEB7FED0}"/>
          </ac:picMkLst>
        </pc:picChg>
      </pc:sldChg>
      <pc:sldChg chg="modSp">
        <pc:chgData name="Ehab Hibah" userId="02a211e71c5bb651" providerId="LiveId" clId="{A9681CCA-AA20-42B2-96D7-4DB53E5F1855}" dt="2025-06-01T08:20:13.580" v="116" actId="20577"/>
        <pc:sldMkLst>
          <pc:docMk/>
          <pc:sldMk cId="0" sldId="265"/>
        </pc:sldMkLst>
        <pc:spChg chg="mod">
          <ac:chgData name="Ehab Hibah" userId="02a211e71c5bb651" providerId="LiveId" clId="{A9681CCA-AA20-42B2-96D7-4DB53E5F1855}" dt="2025-06-01T08:19:03.564" v="95" actId="20577"/>
          <ac:spMkLst>
            <pc:docMk/>
            <pc:sldMk cId="0" sldId="265"/>
            <ac:spMk id="16" creationId="{748DE1E3-DF15-8FB6-02C2-23E2550CBF14}"/>
          </ac:spMkLst>
        </pc:spChg>
        <pc:spChg chg="mod">
          <ac:chgData name="Ehab Hibah" userId="02a211e71c5bb651" providerId="LiveId" clId="{A9681CCA-AA20-42B2-96D7-4DB53E5F1855}" dt="2025-06-01T08:20:13.580" v="116" actId="20577"/>
          <ac:spMkLst>
            <pc:docMk/>
            <pc:sldMk cId="0" sldId="265"/>
            <ac:spMk id="17" creationId="{4A04E785-E6B8-51C8-668E-E61D9ACA4C9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FF973-068B-4739-AB4F-995DA4DFB96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EE13F-5EF5-4871-B078-E8DF3793E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14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EE13F-5EF5-4871-B078-E8DF3793E49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460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sv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12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1.sv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6.sv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sv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8.svg"/><Relationship Id="rId10" Type="http://schemas.openxmlformats.org/officeDocument/2006/relationships/image" Target="../media/image25.png"/><Relationship Id="rId4" Type="http://schemas.openxmlformats.org/officeDocument/2006/relationships/image" Target="../media/image7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7.svg"/><Relationship Id="rId7" Type="http://schemas.openxmlformats.org/officeDocument/2006/relationships/image" Target="../media/image20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6.svg"/><Relationship Id="rId10" Type="http://schemas.openxmlformats.org/officeDocument/2006/relationships/image" Target="../media/image28.png"/><Relationship Id="rId4" Type="http://schemas.openxmlformats.org/officeDocument/2006/relationships/image" Target="../media/image5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9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32.png"/><Relationship Id="rId5" Type="http://schemas.openxmlformats.org/officeDocument/2006/relationships/image" Target="../media/image10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6.sv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0.png"/><Relationship Id="rId7" Type="http://schemas.openxmlformats.org/officeDocument/2006/relationships/image" Target="../media/image6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2.png"/><Relationship Id="rId10" Type="http://schemas.openxmlformats.org/officeDocument/2006/relationships/image" Target="../media/image7.png"/><Relationship Id="rId4" Type="http://schemas.openxmlformats.org/officeDocument/2006/relationships/image" Target="../media/image41.png"/><Relationship Id="rId9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12" Type="http://schemas.openxmlformats.org/officeDocument/2006/relationships/image" Target="../media/image5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58.png"/><Relationship Id="rId5" Type="http://schemas.openxmlformats.org/officeDocument/2006/relationships/image" Target="../media/image11.svg"/><Relationship Id="rId10" Type="http://schemas.openxmlformats.org/officeDocument/2006/relationships/image" Target="../media/image57.png"/><Relationship Id="rId4" Type="http://schemas.openxmlformats.org/officeDocument/2006/relationships/image" Target="../media/image10.png"/><Relationship Id="rId9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6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.svg"/><Relationship Id="rId7" Type="http://schemas.openxmlformats.org/officeDocument/2006/relationships/image" Target="../media/image6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sv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svg"/><Relationship Id="rId4" Type="http://schemas.openxmlformats.org/officeDocument/2006/relationships/image" Target="../media/image69.svg"/><Relationship Id="rId9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9034" y="5927585"/>
            <a:ext cx="5143500" cy="4114800"/>
          </a:xfrm>
          <a:custGeom>
            <a:avLst/>
            <a:gdLst/>
            <a:ahLst/>
            <a:cxnLst/>
            <a:rect l="l" t="t" r="r" b="b"/>
            <a:pathLst>
              <a:path w="5143500" h="4114800">
                <a:moveTo>
                  <a:pt x="0" y="0"/>
                </a:moveTo>
                <a:lnTo>
                  <a:pt x="5143500" y="0"/>
                </a:lnTo>
                <a:lnTo>
                  <a:pt x="5143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120639" y="1028700"/>
            <a:ext cx="3138661" cy="3288121"/>
          </a:xfrm>
          <a:custGeom>
            <a:avLst/>
            <a:gdLst/>
            <a:ahLst/>
            <a:cxnLst/>
            <a:rect l="l" t="t" r="r" b="b"/>
            <a:pathLst>
              <a:path w="3138661" h="3288121">
                <a:moveTo>
                  <a:pt x="0" y="0"/>
                </a:moveTo>
                <a:lnTo>
                  <a:pt x="3138661" y="0"/>
                </a:lnTo>
                <a:lnTo>
                  <a:pt x="3138661" y="3288121"/>
                </a:lnTo>
                <a:lnTo>
                  <a:pt x="0" y="32881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374404" y="9258300"/>
            <a:ext cx="3539193" cy="199127"/>
          </a:xfrm>
          <a:custGeom>
            <a:avLst/>
            <a:gdLst/>
            <a:ahLst/>
            <a:cxnLst/>
            <a:rect l="l" t="t" r="r" b="b"/>
            <a:pathLst>
              <a:path w="3539193" h="199127">
                <a:moveTo>
                  <a:pt x="0" y="0"/>
                </a:moveTo>
                <a:lnTo>
                  <a:pt x="3539192" y="0"/>
                </a:lnTo>
                <a:lnTo>
                  <a:pt x="3539192" y="199127"/>
                </a:lnTo>
                <a:lnTo>
                  <a:pt x="0" y="1991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374404" y="1028700"/>
            <a:ext cx="3539193" cy="199127"/>
          </a:xfrm>
          <a:custGeom>
            <a:avLst/>
            <a:gdLst/>
            <a:ahLst/>
            <a:cxnLst/>
            <a:rect l="l" t="t" r="r" b="b"/>
            <a:pathLst>
              <a:path w="3539193" h="199127">
                <a:moveTo>
                  <a:pt x="0" y="0"/>
                </a:moveTo>
                <a:lnTo>
                  <a:pt x="3539192" y="0"/>
                </a:lnTo>
                <a:lnTo>
                  <a:pt x="3539192" y="199127"/>
                </a:lnTo>
                <a:lnTo>
                  <a:pt x="0" y="1991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300606" y="327725"/>
            <a:ext cx="5472439" cy="3066788"/>
          </a:xfrm>
          <a:custGeom>
            <a:avLst/>
            <a:gdLst/>
            <a:ahLst/>
            <a:cxnLst/>
            <a:rect l="l" t="t" r="r" b="b"/>
            <a:pathLst>
              <a:path w="5472439" h="3066788">
                <a:moveTo>
                  <a:pt x="0" y="0"/>
                </a:moveTo>
                <a:lnTo>
                  <a:pt x="5472439" y="0"/>
                </a:lnTo>
                <a:lnTo>
                  <a:pt x="5472439" y="3066787"/>
                </a:lnTo>
                <a:lnTo>
                  <a:pt x="0" y="30667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648200" y="2019300"/>
            <a:ext cx="7829785" cy="1754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76"/>
              </a:lnSpc>
            </a:pPr>
            <a:r>
              <a:rPr lang="en-US" sz="10768" b="1" dirty="0">
                <a:solidFill>
                  <a:srgbClr val="593EA1"/>
                </a:solidFill>
                <a:latin typeface="Berlin Sans FB Demi" pitchFamily="34" charset="0"/>
                <a:ea typeface="Bubblebody Neue Bold"/>
                <a:cs typeface="Adobe Devanagari" pitchFamily="18" charset="0"/>
                <a:sym typeface="Bubblebody Neue Bold"/>
              </a:rPr>
              <a:t>Live It Right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74296" y="3986131"/>
            <a:ext cx="11339409" cy="193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76"/>
              </a:lnSpc>
            </a:pPr>
            <a:r>
              <a:rPr lang="en-US" sz="10768" b="1" dirty="0">
                <a:solidFill>
                  <a:srgbClr val="2D8BBA"/>
                </a:solidFill>
                <a:latin typeface="Berlin Sans FB Demi" pitchFamily="34" charset="0"/>
                <a:ea typeface="Bubblebody Neue Bold"/>
                <a:cs typeface="Adobe Devanagari" pitchFamily="18" charset="0"/>
                <a:sym typeface="Bubblebody Neue Bold"/>
              </a:rPr>
              <a:t>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6713" y="5992316"/>
            <a:ext cx="7894574" cy="471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6"/>
              </a:lnSpc>
            </a:pPr>
            <a:r>
              <a:rPr lang="en-US" sz="3304" b="1" dirty="0">
                <a:solidFill>
                  <a:srgbClr val="7030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 </a:t>
            </a:r>
            <a:r>
              <a:rPr lang="ar-EG" sz="3304" b="1" dirty="0">
                <a:solidFill>
                  <a:srgbClr val="7030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  <a:br>
              <a:rPr lang="ar-EG" sz="3304" b="1" dirty="0">
                <a:solidFill>
                  <a:srgbClr val="7030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</a:br>
            <a:r>
              <a:rPr lang="en-US" sz="3304" b="1" dirty="0" err="1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Arwa</a:t>
            </a:r>
            <a:r>
              <a:rPr lang="en-US" sz="3304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304" b="1" dirty="0" err="1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Seada</a:t>
            </a:r>
            <a:r>
              <a:rPr lang="en-US" sz="3304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Dina </a:t>
            </a:r>
            <a:r>
              <a:rPr lang="en-US" sz="3304" b="1" dirty="0" err="1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Elharedy</a:t>
            </a:r>
            <a:endParaRPr lang="en-US" sz="3304" b="1" dirty="0">
              <a:solidFill>
                <a:srgbClr val="00206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4626"/>
              </a:lnSpc>
            </a:pPr>
            <a:r>
              <a:rPr lang="en-US" sz="3200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Joy Osama            </a:t>
            </a:r>
            <a:r>
              <a:rPr lang="en-US" sz="3200" b="1" dirty="0" err="1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Yousef</a:t>
            </a:r>
            <a:r>
              <a:rPr lang="en-US" sz="3200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Elgendy</a:t>
            </a:r>
            <a:endParaRPr lang="en-US" sz="3200" b="1" dirty="0">
              <a:solidFill>
                <a:srgbClr val="00206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4626"/>
              </a:lnSpc>
            </a:pPr>
            <a:r>
              <a:rPr lang="en-US" sz="3304" b="1" dirty="0" err="1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Ehab</a:t>
            </a:r>
            <a:r>
              <a:rPr lang="en-US" sz="3304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Abdel </a:t>
            </a:r>
            <a:r>
              <a:rPr lang="en-US" sz="3304" b="1" dirty="0" err="1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Gayed</a:t>
            </a:r>
            <a:br>
              <a:rPr lang="en-US" sz="3304" b="1" dirty="0">
                <a:solidFill>
                  <a:srgbClr val="A2DF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</a:br>
            <a:endParaRPr lang="en-US" sz="3304" b="1" dirty="0">
              <a:solidFill>
                <a:srgbClr val="A2DFD9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4626"/>
              </a:lnSpc>
            </a:pPr>
            <a:br>
              <a:rPr lang="en-US" sz="3304" b="1" dirty="0">
                <a:solidFill>
                  <a:srgbClr val="A2DF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</a:br>
            <a:br>
              <a:rPr lang="en-US" sz="3304" b="1" dirty="0">
                <a:solidFill>
                  <a:srgbClr val="A2DF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</a:br>
            <a:endParaRPr lang="en-US" sz="3304" b="1" dirty="0">
              <a:solidFill>
                <a:srgbClr val="A2DFD9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4523081" y="6556075"/>
            <a:ext cx="5472439" cy="3066788"/>
          </a:xfrm>
          <a:custGeom>
            <a:avLst/>
            <a:gdLst/>
            <a:ahLst/>
            <a:cxnLst/>
            <a:rect l="l" t="t" r="r" b="b"/>
            <a:pathLst>
              <a:path w="5472439" h="3066788">
                <a:moveTo>
                  <a:pt x="0" y="0"/>
                </a:moveTo>
                <a:lnTo>
                  <a:pt x="5472438" y="0"/>
                </a:lnTo>
                <a:lnTo>
                  <a:pt x="5472438" y="3066788"/>
                </a:lnTo>
                <a:lnTo>
                  <a:pt x="0" y="30667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C:\Users\HP\OneDrive\سطح المكتب\Graduation project\Related png\Untitled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9043" y="-3792564"/>
            <a:ext cx="18902808" cy="1417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6"/>
          <p:cNvSpPr/>
          <p:nvPr/>
        </p:nvSpPr>
        <p:spPr>
          <a:xfrm>
            <a:off x="15305955" y="-1045531"/>
            <a:ext cx="7315200" cy="3616754"/>
          </a:xfrm>
          <a:custGeom>
            <a:avLst/>
            <a:gdLst/>
            <a:ahLst/>
            <a:cxnLst/>
            <a:rect l="l" t="t" r="r" b="b"/>
            <a:pathLst>
              <a:path w="7315200" h="3616754">
                <a:moveTo>
                  <a:pt x="0" y="0"/>
                </a:moveTo>
                <a:lnTo>
                  <a:pt x="7315200" y="0"/>
                </a:lnTo>
                <a:lnTo>
                  <a:pt x="7315200" y="3616754"/>
                </a:lnTo>
                <a:lnTo>
                  <a:pt x="0" y="36167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7"/>
          <p:cNvSpPr/>
          <p:nvPr/>
        </p:nvSpPr>
        <p:spPr>
          <a:xfrm>
            <a:off x="-2957713" y="-495565"/>
            <a:ext cx="5472439" cy="3066788"/>
          </a:xfrm>
          <a:custGeom>
            <a:avLst/>
            <a:gdLst/>
            <a:ahLst/>
            <a:cxnLst/>
            <a:rect l="l" t="t" r="r" b="b"/>
            <a:pathLst>
              <a:path w="5472439" h="3066788">
                <a:moveTo>
                  <a:pt x="0" y="0"/>
                </a:moveTo>
                <a:lnTo>
                  <a:pt x="5472439" y="0"/>
                </a:lnTo>
                <a:lnTo>
                  <a:pt x="5472439" y="3066788"/>
                </a:lnTo>
                <a:lnTo>
                  <a:pt x="0" y="30667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880407" y="9370250"/>
            <a:ext cx="3539193" cy="199127"/>
          </a:xfrm>
          <a:custGeom>
            <a:avLst/>
            <a:gdLst/>
            <a:ahLst/>
            <a:cxnLst/>
            <a:rect l="l" t="t" r="r" b="b"/>
            <a:pathLst>
              <a:path w="3539193" h="199127">
                <a:moveTo>
                  <a:pt x="0" y="0"/>
                </a:moveTo>
                <a:lnTo>
                  <a:pt x="3539192" y="0"/>
                </a:lnTo>
                <a:lnTo>
                  <a:pt x="3539192" y="199126"/>
                </a:lnTo>
                <a:lnTo>
                  <a:pt x="0" y="1991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409564" y="5981700"/>
            <a:ext cx="968027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Empowering Those with Dietary Restrictions</a:t>
            </a:r>
            <a:r>
              <a:rPr lang="en-US" b="1" dirty="0"/>
              <a:t>.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248400" y="7071255"/>
            <a:ext cx="62518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Eat Well, Be Smart, Live IT Right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06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E:\Downloads\avoid_fast_food-removebg-preview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57800" y="6677890"/>
            <a:ext cx="1016000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:\Downloads\trolley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9260" y="6835686"/>
            <a:ext cx="1053506" cy="1053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E:\Downloads\personalized (1)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22878" y="6898592"/>
            <a:ext cx="9906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AutoShape 13"/>
          <p:cNvSpPr/>
          <p:nvPr/>
        </p:nvSpPr>
        <p:spPr>
          <a:xfrm flipV="1">
            <a:off x="-4572000" y="5524500"/>
            <a:ext cx="772151" cy="757248"/>
          </a:xfrm>
          <a:prstGeom prst="line">
            <a:avLst/>
          </a:prstGeom>
          <a:ln w="66675" cap="flat">
            <a:solidFill>
              <a:srgbClr val="593EA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13"/>
          <p:cNvSpPr/>
          <p:nvPr/>
        </p:nvSpPr>
        <p:spPr>
          <a:xfrm flipV="1">
            <a:off x="-2507673" y="5655084"/>
            <a:ext cx="0" cy="1036935"/>
          </a:xfrm>
          <a:prstGeom prst="line">
            <a:avLst/>
          </a:prstGeom>
          <a:ln w="66675" cap="flat">
            <a:solidFill>
              <a:srgbClr val="593EA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13"/>
          <p:cNvSpPr/>
          <p:nvPr/>
        </p:nvSpPr>
        <p:spPr>
          <a:xfrm flipH="1" flipV="1">
            <a:off x="-1199337" y="5897549"/>
            <a:ext cx="762000" cy="912243"/>
          </a:xfrm>
          <a:prstGeom prst="line">
            <a:avLst/>
          </a:prstGeom>
          <a:ln w="66675" cap="flat">
            <a:solidFill>
              <a:srgbClr val="593EA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2053" name="Picture 5" descr="C:\Users\HP\OneDrive\سطح المكتب\Graduation project\Related png\discipline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99849" y="2335865"/>
            <a:ext cx="3049587" cy="304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2"/>
          <p:cNvSpPr/>
          <p:nvPr/>
        </p:nvSpPr>
        <p:spPr>
          <a:xfrm>
            <a:off x="762000" y="2681655"/>
            <a:ext cx="3561172" cy="4114800"/>
          </a:xfrm>
          <a:custGeom>
            <a:avLst/>
            <a:gdLst/>
            <a:ahLst/>
            <a:cxnLst/>
            <a:rect l="l" t="t" r="r" b="b"/>
            <a:pathLst>
              <a:path w="3561172" h="4114800">
                <a:moveTo>
                  <a:pt x="0" y="0"/>
                </a:moveTo>
                <a:lnTo>
                  <a:pt x="3561172" y="0"/>
                </a:lnTo>
                <a:lnTo>
                  <a:pt x="35611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097000" y="9838427"/>
            <a:ext cx="3539193" cy="199127"/>
          </a:xfrm>
          <a:custGeom>
            <a:avLst/>
            <a:gdLst/>
            <a:ahLst/>
            <a:cxnLst/>
            <a:rect l="l" t="t" r="r" b="b"/>
            <a:pathLst>
              <a:path w="3539193" h="199127">
                <a:moveTo>
                  <a:pt x="0" y="0"/>
                </a:moveTo>
                <a:lnTo>
                  <a:pt x="3539193" y="0"/>
                </a:lnTo>
                <a:lnTo>
                  <a:pt x="3539193" y="199126"/>
                </a:lnTo>
                <a:lnTo>
                  <a:pt x="0" y="1991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305955" y="-1045531"/>
            <a:ext cx="7315200" cy="3616754"/>
          </a:xfrm>
          <a:custGeom>
            <a:avLst/>
            <a:gdLst/>
            <a:ahLst/>
            <a:cxnLst/>
            <a:rect l="l" t="t" r="r" b="b"/>
            <a:pathLst>
              <a:path w="7315200" h="3616754">
                <a:moveTo>
                  <a:pt x="0" y="0"/>
                </a:moveTo>
                <a:lnTo>
                  <a:pt x="7315200" y="0"/>
                </a:lnTo>
                <a:lnTo>
                  <a:pt x="7315200" y="3616754"/>
                </a:lnTo>
                <a:lnTo>
                  <a:pt x="0" y="36167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944797" y="1116334"/>
            <a:ext cx="7829785" cy="130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rgbClr val="593EA1"/>
                </a:solidFill>
                <a:latin typeface="Berlin Sans FB Demi" pitchFamily="34" charset="0"/>
                <a:ea typeface="Bubblebody Neue Bold"/>
                <a:cs typeface="Adobe Devanagari" pitchFamily="18" charset="0"/>
                <a:sym typeface="Bubblebody Neue Bold"/>
              </a:rPr>
              <a:t>How it started !</a:t>
            </a:r>
          </a:p>
        </p:txBody>
      </p:sp>
      <p:sp>
        <p:nvSpPr>
          <p:cNvPr id="8" name="Freeform 8"/>
          <p:cNvSpPr/>
          <p:nvPr/>
        </p:nvSpPr>
        <p:spPr>
          <a:xfrm>
            <a:off x="-3835479" y="7390914"/>
            <a:ext cx="5472439" cy="3066788"/>
          </a:xfrm>
          <a:custGeom>
            <a:avLst/>
            <a:gdLst/>
            <a:ahLst/>
            <a:cxnLst/>
            <a:rect l="l" t="t" r="r" b="b"/>
            <a:pathLst>
              <a:path w="5472439" h="3066788">
                <a:moveTo>
                  <a:pt x="0" y="0"/>
                </a:moveTo>
                <a:lnTo>
                  <a:pt x="5472439" y="0"/>
                </a:lnTo>
                <a:lnTo>
                  <a:pt x="5472439" y="3066787"/>
                </a:lnTo>
                <a:lnTo>
                  <a:pt x="0" y="30667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14800" y="8688407"/>
            <a:ext cx="9144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/>
              <a:t>- Because we believe health should be easy, personal, and within reach for everyone who wants to Live it Right </a:t>
            </a:r>
          </a:p>
        </p:txBody>
      </p:sp>
      <p:pic>
        <p:nvPicPr>
          <p:cNvPr id="2052" name="Picture 4" descr="C:\Users\HP\OneDrive\سطح المكتب\Graduation project\Related png\heart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2613" y="9219758"/>
            <a:ext cx="422756" cy="42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022 0.05815 L 0.73272 -0.0158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25" y="-37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8542 -0.14837 L 0.74375 -0.00772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3" y="703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8055 -0.13927 L 0.73472 -0.0430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2" y="48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5 -0.19617 L 0.75417 -0.0111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9254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658 -0.12985 L 0.76571 0.00833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" y="69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0503 -0.17536 L 0.7717 -0.04211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6663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4896 -0.14482 L 0.79479 -0.02637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59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7"/>
          <p:cNvSpPr/>
          <p:nvPr/>
        </p:nvSpPr>
        <p:spPr>
          <a:xfrm rot="-5820136">
            <a:off x="15909502" y="-889967"/>
            <a:ext cx="3597844" cy="4114800"/>
          </a:xfrm>
          <a:custGeom>
            <a:avLst/>
            <a:gdLst/>
            <a:ahLst/>
            <a:cxnLst/>
            <a:rect l="l" t="t" r="r" b="b"/>
            <a:pathLst>
              <a:path w="3597844" h="4114800">
                <a:moveTo>
                  <a:pt x="0" y="0"/>
                </a:moveTo>
                <a:lnTo>
                  <a:pt x="3597844" y="0"/>
                </a:lnTo>
                <a:lnTo>
                  <a:pt x="35978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18"/>
          <p:cNvSpPr/>
          <p:nvPr/>
        </p:nvSpPr>
        <p:spPr>
          <a:xfrm flipH="1">
            <a:off x="-2736219" y="-365961"/>
            <a:ext cx="5472439" cy="3066788"/>
          </a:xfrm>
          <a:custGeom>
            <a:avLst/>
            <a:gdLst/>
            <a:ahLst/>
            <a:cxnLst/>
            <a:rect l="l" t="t" r="r" b="b"/>
            <a:pathLst>
              <a:path w="5472439" h="3066788">
                <a:moveTo>
                  <a:pt x="5472438" y="0"/>
                </a:moveTo>
                <a:lnTo>
                  <a:pt x="0" y="0"/>
                </a:lnTo>
                <a:lnTo>
                  <a:pt x="0" y="3066788"/>
                </a:lnTo>
                <a:lnTo>
                  <a:pt x="5472438" y="3066788"/>
                </a:lnTo>
                <a:lnTo>
                  <a:pt x="547243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57775" y="2037055"/>
            <a:ext cx="7699544" cy="1393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rgbClr val="593EA1"/>
                </a:solidFill>
                <a:latin typeface="Berlin Sans FB Demi" pitchFamily="34" charset="0"/>
                <a:ea typeface="Bubblebody Neue Bold"/>
                <a:cs typeface="Adobe Devanagari" pitchFamily="18" charset="0"/>
                <a:sym typeface="Bubblebody Neue Bold"/>
              </a:rPr>
              <a:t>Target Audience</a:t>
            </a:r>
          </a:p>
        </p:txBody>
      </p:sp>
      <p:pic>
        <p:nvPicPr>
          <p:cNvPr id="3074" name="Picture 2" descr="C:\Users\HP\OneDrive\سطح المكتب\Graduation project\Related png\2248584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142273"/>
            <a:ext cx="2362839" cy="236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13"/>
          <p:cNvSpPr/>
          <p:nvPr/>
        </p:nvSpPr>
        <p:spPr>
          <a:xfrm>
            <a:off x="2057400" y="6095976"/>
            <a:ext cx="1758887" cy="1714524"/>
          </a:xfrm>
          <a:prstGeom prst="line">
            <a:avLst/>
          </a:prstGeom>
          <a:ln w="66675" cap="flat">
            <a:solidFill>
              <a:srgbClr val="593EA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3075" name="Picture 3" descr="C:\Users\HP\OneDrive\سطح المكتب\Graduation project\Related png\diabetes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056" y="7019752"/>
            <a:ext cx="2270654" cy="227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13"/>
          <p:cNvSpPr/>
          <p:nvPr/>
        </p:nvSpPr>
        <p:spPr>
          <a:xfrm flipV="1">
            <a:off x="6324600" y="6484470"/>
            <a:ext cx="1885627" cy="1571731"/>
          </a:xfrm>
          <a:prstGeom prst="line">
            <a:avLst/>
          </a:prstGeom>
          <a:ln w="66675" cap="flat">
            <a:solidFill>
              <a:srgbClr val="593EA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3076" name="Picture 4" descr="C:\Users\HP\OneDrive\سطح المكتب\Graduation project\Related png\guidance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4142273"/>
            <a:ext cx="2646362" cy="264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13"/>
          <p:cNvSpPr/>
          <p:nvPr/>
        </p:nvSpPr>
        <p:spPr>
          <a:xfrm>
            <a:off x="10184170" y="6011646"/>
            <a:ext cx="1703030" cy="1417853"/>
          </a:xfrm>
          <a:prstGeom prst="line">
            <a:avLst/>
          </a:prstGeom>
          <a:ln w="66675" cap="flat">
            <a:solidFill>
              <a:srgbClr val="593EA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3077" name="Picture 5" descr="C:\Users\HP\OneDrive\سطح المكتب\Graduation project\Related png\doctor-visit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0164" y="7581900"/>
            <a:ext cx="1983070" cy="198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utoShape 13"/>
          <p:cNvSpPr/>
          <p:nvPr/>
        </p:nvSpPr>
        <p:spPr>
          <a:xfrm flipV="1">
            <a:off x="14173200" y="6286499"/>
            <a:ext cx="1273865" cy="1868579"/>
          </a:xfrm>
          <a:prstGeom prst="line">
            <a:avLst/>
          </a:prstGeom>
          <a:ln w="66675" cap="flat">
            <a:solidFill>
              <a:srgbClr val="593EA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3078" name="Picture 6" descr="C:\Users\HP\OneDrive\سطح المكتب\Graduation project\Related png\health-care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9980" y="3786407"/>
            <a:ext cx="2504612" cy="2504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35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08167" y="3203753"/>
            <a:ext cx="6606533" cy="5393334"/>
          </a:xfrm>
          <a:custGeom>
            <a:avLst/>
            <a:gdLst/>
            <a:ahLst/>
            <a:cxnLst/>
            <a:rect l="l" t="t" r="r" b="b"/>
            <a:pathLst>
              <a:path w="6606533" h="5393334">
                <a:moveTo>
                  <a:pt x="0" y="0"/>
                </a:moveTo>
                <a:lnTo>
                  <a:pt x="6606534" y="0"/>
                </a:lnTo>
                <a:lnTo>
                  <a:pt x="6606534" y="5393334"/>
                </a:lnTo>
                <a:lnTo>
                  <a:pt x="0" y="5393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21277" y="9158737"/>
            <a:ext cx="3539193" cy="199127"/>
          </a:xfrm>
          <a:custGeom>
            <a:avLst/>
            <a:gdLst/>
            <a:ahLst/>
            <a:cxnLst/>
            <a:rect l="l" t="t" r="r" b="b"/>
            <a:pathLst>
              <a:path w="3539193" h="199127">
                <a:moveTo>
                  <a:pt x="0" y="0"/>
                </a:moveTo>
                <a:lnTo>
                  <a:pt x="3539193" y="0"/>
                </a:lnTo>
                <a:lnTo>
                  <a:pt x="3539193" y="199126"/>
                </a:lnTo>
                <a:lnTo>
                  <a:pt x="0" y="199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820136">
            <a:off x="15909502" y="-889967"/>
            <a:ext cx="3597844" cy="4114800"/>
          </a:xfrm>
          <a:custGeom>
            <a:avLst/>
            <a:gdLst/>
            <a:ahLst/>
            <a:cxnLst/>
            <a:rect l="l" t="t" r="r" b="b"/>
            <a:pathLst>
              <a:path w="3597844" h="4114800">
                <a:moveTo>
                  <a:pt x="0" y="0"/>
                </a:moveTo>
                <a:lnTo>
                  <a:pt x="3597844" y="0"/>
                </a:lnTo>
                <a:lnTo>
                  <a:pt x="35978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-2736219" y="-365961"/>
            <a:ext cx="5472439" cy="3066788"/>
          </a:xfrm>
          <a:custGeom>
            <a:avLst/>
            <a:gdLst/>
            <a:ahLst/>
            <a:cxnLst/>
            <a:rect l="l" t="t" r="r" b="b"/>
            <a:pathLst>
              <a:path w="5472439" h="3066788">
                <a:moveTo>
                  <a:pt x="5472438" y="0"/>
                </a:moveTo>
                <a:lnTo>
                  <a:pt x="0" y="0"/>
                </a:lnTo>
                <a:lnTo>
                  <a:pt x="0" y="3066788"/>
                </a:lnTo>
                <a:lnTo>
                  <a:pt x="5472438" y="3066788"/>
                </a:lnTo>
                <a:lnTo>
                  <a:pt x="547243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753738" y="1028700"/>
            <a:ext cx="11557696" cy="130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rgbClr val="593EA1"/>
                </a:solidFill>
                <a:latin typeface="Berlin Sans FB Demi" pitchFamily="34" charset="0"/>
                <a:ea typeface="Bubblebody Neue Bold"/>
                <a:cs typeface="Adobe Devanagari" pitchFamily="18" charset="0"/>
                <a:sym typeface="Bubblebody Neue Bold"/>
              </a:rPr>
              <a:t>Why It Matters 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45776" y="8191500"/>
            <a:ext cx="7202578" cy="96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4098" name="Picture 2" descr="C:\Users\HP\OneDrive\سطح المكتب\Graduation project\Related png\medication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0600" y="1333500"/>
            <a:ext cx="6248400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9041" y="6720126"/>
            <a:ext cx="9144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 challenges</a:t>
            </a:r>
            <a:br>
              <a:rPr lang="ar-EG" b="1" dirty="0">
                <a:solidFill>
                  <a:srgbClr val="7030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</a:b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056595" y="2911365"/>
            <a:ext cx="19688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Diabetes</a:t>
            </a:r>
            <a:endParaRPr lang="en-US" sz="3200" dirty="0"/>
          </a:p>
        </p:txBody>
      </p:sp>
      <p:sp>
        <p:nvSpPr>
          <p:cNvPr id="11" name="AutoShape 13"/>
          <p:cNvSpPr/>
          <p:nvPr/>
        </p:nvSpPr>
        <p:spPr>
          <a:xfrm>
            <a:off x="5056595" y="3771900"/>
            <a:ext cx="3943426" cy="0"/>
          </a:xfrm>
          <a:prstGeom prst="line">
            <a:avLst/>
          </a:prstGeom>
          <a:ln w="66675" cap="flat">
            <a:solidFill>
              <a:srgbClr val="593EA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743474" y="2954667"/>
            <a:ext cx="8659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17%</a:t>
            </a:r>
            <a:endParaRPr lang="en-US" sz="2800" dirty="0"/>
          </a:p>
        </p:txBody>
      </p:sp>
      <p:sp>
        <p:nvSpPr>
          <p:cNvPr id="13" name="Rectangle 12"/>
          <p:cNvSpPr/>
          <p:nvPr/>
        </p:nvSpPr>
        <p:spPr>
          <a:xfrm>
            <a:off x="4955805" y="4314177"/>
            <a:ext cx="28087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Pre-Diabetes</a:t>
            </a:r>
            <a:endParaRPr lang="en-US" sz="3200" dirty="0"/>
          </a:p>
        </p:txBody>
      </p:sp>
      <p:sp>
        <p:nvSpPr>
          <p:cNvPr id="14" name="Rectangle 13"/>
          <p:cNvSpPr/>
          <p:nvPr/>
        </p:nvSpPr>
        <p:spPr>
          <a:xfrm>
            <a:off x="9741823" y="4388669"/>
            <a:ext cx="9348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10%</a:t>
            </a:r>
            <a:endParaRPr lang="en-US" sz="2800" dirty="0"/>
          </a:p>
        </p:txBody>
      </p:sp>
      <p:sp>
        <p:nvSpPr>
          <p:cNvPr id="16" name="AutoShape 13"/>
          <p:cNvSpPr/>
          <p:nvPr/>
        </p:nvSpPr>
        <p:spPr>
          <a:xfrm>
            <a:off x="5165907" y="5143500"/>
            <a:ext cx="3943426" cy="0"/>
          </a:xfrm>
          <a:prstGeom prst="line">
            <a:avLst/>
          </a:prstGeom>
          <a:ln w="66675" cap="flat">
            <a:solidFill>
              <a:srgbClr val="593EA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3"/>
          <p:cNvSpPr/>
          <p:nvPr/>
        </p:nvSpPr>
        <p:spPr>
          <a:xfrm>
            <a:off x="5209615" y="6515100"/>
            <a:ext cx="3943426" cy="0"/>
          </a:xfrm>
          <a:prstGeom prst="line">
            <a:avLst/>
          </a:prstGeom>
          <a:ln w="66675" cap="flat">
            <a:solidFill>
              <a:srgbClr val="593EA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955805" y="5753100"/>
            <a:ext cx="41569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Lactose intolerance</a:t>
            </a:r>
            <a:endParaRPr lang="en-US" sz="3200" dirty="0"/>
          </a:p>
        </p:txBody>
      </p:sp>
      <p:sp>
        <p:nvSpPr>
          <p:cNvPr id="18" name="Rectangle 17"/>
          <p:cNvSpPr/>
          <p:nvPr/>
        </p:nvSpPr>
        <p:spPr>
          <a:xfrm>
            <a:off x="9735412" y="5757839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68%</a:t>
            </a:r>
            <a:endParaRPr lang="en-US" sz="2800" dirty="0"/>
          </a:p>
        </p:txBody>
      </p:sp>
      <p:sp>
        <p:nvSpPr>
          <p:cNvPr id="19" name="Rectangle 18"/>
          <p:cNvSpPr/>
          <p:nvPr/>
        </p:nvSpPr>
        <p:spPr>
          <a:xfrm>
            <a:off x="5089030" y="7138744"/>
            <a:ext cx="39485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Gluten intolerance</a:t>
            </a:r>
            <a:endParaRPr lang="en-US" sz="3200" dirty="0"/>
          </a:p>
        </p:txBody>
      </p:sp>
      <p:sp>
        <p:nvSpPr>
          <p:cNvPr id="21" name="AutoShape 13"/>
          <p:cNvSpPr/>
          <p:nvPr/>
        </p:nvSpPr>
        <p:spPr>
          <a:xfrm>
            <a:off x="5257800" y="7962900"/>
            <a:ext cx="3943426" cy="0"/>
          </a:xfrm>
          <a:prstGeom prst="line">
            <a:avLst/>
          </a:prstGeom>
          <a:ln w="66675" cap="flat">
            <a:solidFill>
              <a:srgbClr val="593EA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676149" y="7263123"/>
            <a:ext cx="10005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1.5%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2" grpId="0"/>
      <p:bldP spid="13" grpId="0"/>
      <p:bldP spid="14" grpId="0"/>
      <p:bldP spid="15" grpId="0"/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 descr="C:\Users\HP\OneDrive\سطح المكتب\Graduation project\Related png\clou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94657" flipH="1">
            <a:off x="1921447" y="5535425"/>
            <a:ext cx="1827213" cy="182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/>
          <p:cNvSpPr txBox="1"/>
          <p:nvPr/>
        </p:nvSpPr>
        <p:spPr>
          <a:xfrm>
            <a:off x="2438400" y="819150"/>
            <a:ext cx="11557696" cy="273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rgbClr val="593EA1"/>
                </a:solidFill>
                <a:latin typeface="Berlin Sans FB Demi" pitchFamily="34" charset="0"/>
                <a:ea typeface="Bubblebody Neue Bold"/>
                <a:cs typeface="Adobe Devanagari" pitchFamily="18" charset="0"/>
                <a:sym typeface="Bubblebody Neue Bold"/>
              </a:rPr>
              <a:t>From Problem </a:t>
            </a:r>
            <a:br>
              <a:rPr lang="en-US" sz="8000" b="1" dirty="0">
                <a:solidFill>
                  <a:srgbClr val="593EA1"/>
                </a:solidFill>
                <a:latin typeface="Berlin Sans FB Demi" pitchFamily="34" charset="0"/>
                <a:ea typeface="Bubblebody Neue Bold"/>
                <a:cs typeface="Adobe Devanagari" pitchFamily="18" charset="0"/>
                <a:sym typeface="Bubblebody Neue Bold"/>
              </a:rPr>
            </a:br>
            <a:r>
              <a:rPr lang="en-US" sz="8000" b="1" dirty="0">
                <a:solidFill>
                  <a:srgbClr val="593EA1"/>
                </a:solidFill>
                <a:latin typeface="Berlin Sans FB Demi" pitchFamily="34" charset="0"/>
                <a:ea typeface="Bubblebody Neue Bold"/>
                <a:cs typeface="Adobe Devanagari" pitchFamily="18" charset="0"/>
                <a:sym typeface="Bubblebody Neue Bold"/>
              </a:rPr>
              <a:t>To Possibility</a:t>
            </a:r>
          </a:p>
        </p:txBody>
      </p:sp>
      <p:sp>
        <p:nvSpPr>
          <p:cNvPr id="3" name="Freeform 3"/>
          <p:cNvSpPr/>
          <p:nvPr/>
        </p:nvSpPr>
        <p:spPr>
          <a:xfrm>
            <a:off x="6096000" y="9676224"/>
            <a:ext cx="3539193" cy="199127"/>
          </a:xfrm>
          <a:custGeom>
            <a:avLst/>
            <a:gdLst/>
            <a:ahLst/>
            <a:cxnLst/>
            <a:rect l="l" t="t" r="r" b="b"/>
            <a:pathLst>
              <a:path w="3539193" h="199127">
                <a:moveTo>
                  <a:pt x="0" y="0"/>
                </a:moveTo>
                <a:lnTo>
                  <a:pt x="3539192" y="0"/>
                </a:lnTo>
                <a:lnTo>
                  <a:pt x="3539192" y="199126"/>
                </a:lnTo>
                <a:lnTo>
                  <a:pt x="0" y="199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305955" y="-1045531"/>
            <a:ext cx="7315200" cy="3616754"/>
          </a:xfrm>
          <a:custGeom>
            <a:avLst/>
            <a:gdLst/>
            <a:ahLst/>
            <a:cxnLst/>
            <a:rect l="l" t="t" r="r" b="b"/>
            <a:pathLst>
              <a:path w="7315200" h="3616754">
                <a:moveTo>
                  <a:pt x="0" y="0"/>
                </a:moveTo>
                <a:lnTo>
                  <a:pt x="7315200" y="0"/>
                </a:lnTo>
                <a:lnTo>
                  <a:pt x="7315200" y="3616754"/>
                </a:lnTo>
                <a:lnTo>
                  <a:pt x="0" y="36167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2957713" y="-495565"/>
            <a:ext cx="5472439" cy="3066788"/>
          </a:xfrm>
          <a:custGeom>
            <a:avLst/>
            <a:gdLst/>
            <a:ahLst/>
            <a:cxnLst/>
            <a:rect l="l" t="t" r="r" b="b"/>
            <a:pathLst>
              <a:path w="5472439" h="3066788">
                <a:moveTo>
                  <a:pt x="0" y="0"/>
                </a:moveTo>
                <a:lnTo>
                  <a:pt x="5472439" y="0"/>
                </a:lnTo>
                <a:lnTo>
                  <a:pt x="5472439" y="3066788"/>
                </a:lnTo>
                <a:lnTo>
                  <a:pt x="0" y="30667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82564" y="3809696"/>
            <a:ext cx="247375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7030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Before</a:t>
            </a:r>
            <a:endParaRPr lang="en-US" sz="5400" dirty="0"/>
          </a:p>
        </p:txBody>
      </p:sp>
      <p:pic>
        <p:nvPicPr>
          <p:cNvPr id="5123" name="Picture 3" descr="C:\Users\HP\OneDrive\سطح المكتب\Graduation project\Related png\loneliness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15" y="7505700"/>
            <a:ext cx="2618808" cy="2618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Users\HP\OneDrive\سطح المكتب\Graduation project\Related png\clou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92764">
            <a:off x="-221494" y="5985455"/>
            <a:ext cx="1827213" cy="182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E:\Downloads\balanced-diet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68" y="6297612"/>
            <a:ext cx="773112" cy="77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C:\Users\HP\OneDrive\سطح المكتب\Graduation project\Related png\clou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7448" flipH="1">
            <a:off x="3488044" y="6708445"/>
            <a:ext cx="1827213" cy="182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:\Users\HP\OneDrive\سطح المكتب\Graduation project\Related png\take-medicines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312949">
            <a:off x="4250313" y="7164114"/>
            <a:ext cx="569172" cy="56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C:\Users\HP\OneDrive\سطح المكتب\Graduation project\Related png\clou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54961">
            <a:off x="674703" y="5447244"/>
            <a:ext cx="1827213" cy="182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E:\Downloads\online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164" y="5902555"/>
            <a:ext cx="663909" cy="66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E:\Downloads\emergency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419441" y="5835257"/>
            <a:ext cx="721009" cy="72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12799234" y="3948400"/>
            <a:ext cx="192392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7030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After</a:t>
            </a:r>
            <a:endParaRPr lang="en-US" sz="5400" dirty="0"/>
          </a:p>
        </p:txBody>
      </p:sp>
      <p:pic>
        <p:nvPicPr>
          <p:cNvPr id="5129" name="Picture 9" descr="E:\Downloads\positive-thinking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4842" y="7183647"/>
            <a:ext cx="3045918" cy="304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1" name="Picture 11" descr="C:\Users\HP\OneDrive\سطح المكتب\Graduation project\Logo\logo icon.pn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803" y="4923330"/>
            <a:ext cx="4195979" cy="159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C:\Users\HP\OneDrive\سطح المكتب\Graduation project\Related png\clou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0350" flipH="1">
            <a:off x="2958469" y="5872392"/>
            <a:ext cx="1827213" cy="182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E:\Downloads\shelves.png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9034" y="6282847"/>
            <a:ext cx="616214" cy="616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3" name="Picture 13" descr="C:\Users\HP\OneDrive\سطح المكتب\Graduation project\Related png\thought.png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7550" y="4514131"/>
            <a:ext cx="3334487" cy="333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2D86939-E60F-57D7-F3CC-1B3349671A95}"/>
              </a:ext>
            </a:extLst>
          </p:cNvPr>
          <p:cNvSpPr txBox="1"/>
          <p:nvPr/>
        </p:nvSpPr>
        <p:spPr>
          <a:xfrm>
            <a:off x="18669000" y="3883724"/>
            <a:ext cx="500058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0" i="0" dirty="0">
                <a:solidFill>
                  <a:srgbClr val="7030A0"/>
                </a:solidFill>
                <a:effectLst/>
                <a:latin typeface="Roboto" panose="02000000000000000000" pitchFamily="2" charset="0"/>
              </a:rPr>
              <a:t>Time &amp; Stress Saving</a:t>
            </a: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E76D8F-901D-3E23-1EF9-009E3D363831}"/>
              </a:ext>
            </a:extLst>
          </p:cNvPr>
          <p:cNvSpPr txBox="1"/>
          <p:nvPr/>
        </p:nvSpPr>
        <p:spPr>
          <a:xfrm>
            <a:off x="-8939170" y="5447819"/>
            <a:ext cx="88454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i="0" dirty="0">
                <a:solidFill>
                  <a:srgbClr val="7030A0"/>
                </a:solidFill>
                <a:effectLst/>
                <a:latin typeface="Roboto" panose="02000000000000000000" pitchFamily="2" charset="0"/>
              </a:rPr>
              <a:t>Accessible &amp; User-Friendly Design</a:t>
            </a: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DFD4A5-EE26-C30D-4ECC-E9A33F79F931}"/>
              </a:ext>
            </a:extLst>
          </p:cNvPr>
          <p:cNvSpPr txBox="1"/>
          <p:nvPr/>
        </p:nvSpPr>
        <p:spPr>
          <a:xfrm>
            <a:off x="18669000" y="7746322"/>
            <a:ext cx="76297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7030A0"/>
                </a:solidFill>
              </a:rPr>
              <a:t>Personalized &amp; Educational Content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468E3E-FE03-B8BF-0E78-46E60438397E}"/>
              </a:ext>
            </a:extLst>
          </p:cNvPr>
          <p:cNvSpPr txBox="1"/>
          <p:nvPr/>
        </p:nvSpPr>
        <p:spPr>
          <a:xfrm>
            <a:off x="-4800600" y="2705100"/>
            <a:ext cx="47068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0" i="0" dirty="0">
                <a:solidFill>
                  <a:srgbClr val="7030A0"/>
                </a:solidFill>
                <a:effectLst/>
                <a:latin typeface="Roboto" panose="02000000000000000000" pitchFamily="2" charset="0"/>
              </a:rPr>
              <a:t>All-in-One Platform</a:t>
            </a:r>
            <a:endParaRPr lang="en-US" sz="4000" dirty="0">
              <a:solidFill>
                <a:srgbClr val="7030A0"/>
              </a:solidFill>
            </a:endParaRPr>
          </a:p>
        </p:txBody>
      </p:sp>
      <p:pic>
        <p:nvPicPr>
          <p:cNvPr id="2060" name="Picture 12" descr="Search ">
            <a:extLst>
              <a:ext uri="{FF2B5EF4-FFF2-40B4-BE49-F238E27FC236}">
                <a16:creationId xmlns:a16="http://schemas.microsoft.com/office/drawing/2014/main" id="{26B92C3C-45D9-849A-BD69-C6ED25A01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17" y="5526215"/>
            <a:ext cx="1258979" cy="1258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Personalized ">
            <a:extLst>
              <a:ext uri="{FF2B5EF4-FFF2-40B4-BE49-F238E27FC236}">
                <a16:creationId xmlns:a16="http://schemas.microsoft.com/office/drawing/2014/main" id="{88266959-C0ED-2E26-0BE3-3EE3DEB7F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6940" y="7449478"/>
            <a:ext cx="1301575" cy="130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al time ">
            <a:extLst>
              <a:ext uri="{FF2B5EF4-FFF2-40B4-BE49-F238E27FC236}">
                <a16:creationId xmlns:a16="http://schemas.microsoft.com/office/drawing/2014/main" id="{640F354A-4F18-D1DB-2FA0-AD2804E64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6703" y="3605142"/>
            <a:ext cx="1542051" cy="1542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All ">
            <a:extLst>
              <a:ext uri="{FF2B5EF4-FFF2-40B4-BE49-F238E27FC236}">
                <a16:creationId xmlns:a16="http://schemas.microsoft.com/office/drawing/2014/main" id="{6D2B44BE-281D-92E5-9D9B-103D44DD2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22" y="2273330"/>
            <a:ext cx="1301574" cy="1301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/>
          <p:cNvSpPr txBox="1"/>
          <p:nvPr/>
        </p:nvSpPr>
        <p:spPr>
          <a:xfrm>
            <a:off x="3365152" y="819150"/>
            <a:ext cx="11557696" cy="130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593EA1"/>
                </a:solidFill>
                <a:latin typeface="Berlin Sans FB Demi" pitchFamily="34" charset="0"/>
                <a:ea typeface="Bubblebody Neue Bold"/>
                <a:cs typeface="Adobe Devanagari" pitchFamily="18" charset="0"/>
                <a:sym typeface="Bubblebody Neue Bold"/>
              </a:rPr>
              <a:t>What Make Us </a:t>
            </a:r>
            <a:r>
              <a:rPr lang="en-US" sz="8000" b="1" dirty="0">
                <a:solidFill>
                  <a:srgbClr val="593EA1"/>
                </a:solidFill>
                <a:latin typeface="Berlin Sans FB Demi" pitchFamily="34" charset="0"/>
                <a:ea typeface="Bubblebody Neue Bold"/>
                <a:cs typeface="Adobe Devanagari" pitchFamily="18" charset="0"/>
                <a:sym typeface="Bubblebody Neue Bold"/>
              </a:rPr>
              <a:t>U</a:t>
            </a:r>
            <a:r>
              <a:rPr lang="en-US" sz="8000" b="1">
                <a:solidFill>
                  <a:srgbClr val="593EA1"/>
                </a:solidFill>
                <a:latin typeface="Berlin Sans FB Demi" pitchFamily="34" charset="0"/>
                <a:ea typeface="Bubblebody Neue Bold"/>
                <a:cs typeface="Adobe Devanagari" pitchFamily="18" charset="0"/>
                <a:sym typeface="Bubblebody Neue Bold"/>
              </a:rPr>
              <a:t>nique </a:t>
            </a:r>
            <a:r>
              <a:rPr lang="en-US" sz="8000" b="1" dirty="0">
                <a:solidFill>
                  <a:srgbClr val="593EA1"/>
                </a:solidFill>
                <a:latin typeface="Berlin Sans FB Demi" pitchFamily="34" charset="0"/>
                <a:ea typeface="Bubblebody Neue Bold"/>
                <a:cs typeface="Adobe Devanagari" pitchFamily="18" charset="0"/>
                <a:sym typeface="Bubblebody Neue Bold"/>
              </a:rPr>
              <a:t>!</a:t>
            </a:r>
          </a:p>
        </p:txBody>
      </p:sp>
      <p:sp>
        <p:nvSpPr>
          <p:cNvPr id="5" name="Freeform 5"/>
          <p:cNvSpPr/>
          <p:nvPr/>
        </p:nvSpPr>
        <p:spPr>
          <a:xfrm>
            <a:off x="14207193" y="9852607"/>
            <a:ext cx="3539193" cy="199127"/>
          </a:xfrm>
          <a:custGeom>
            <a:avLst/>
            <a:gdLst/>
            <a:ahLst/>
            <a:cxnLst/>
            <a:rect l="l" t="t" r="r" b="b"/>
            <a:pathLst>
              <a:path w="3539193" h="199127">
                <a:moveTo>
                  <a:pt x="0" y="0"/>
                </a:moveTo>
                <a:lnTo>
                  <a:pt x="3539192" y="0"/>
                </a:lnTo>
                <a:lnTo>
                  <a:pt x="3539192" y="199126"/>
                </a:lnTo>
                <a:lnTo>
                  <a:pt x="0" y="1991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820136">
            <a:off x="15909502" y="-889967"/>
            <a:ext cx="3597844" cy="4114800"/>
          </a:xfrm>
          <a:custGeom>
            <a:avLst/>
            <a:gdLst/>
            <a:ahLst/>
            <a:cxnLst/>
            <a:rect l="l" t="t" r="r" b="b"/>
            <a:pathLst>
              <a:path w="3597844" h="4114800">
                <a:moveTo>
                  <a:pt x="0" y="0"/>
                </a:moveTo>
                <a:lnTo>
                  <a:pt x="3597844" y="0"/>
                </a:lnTo>
                <a:lnTo>
                  <a:pt x="35978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-3143326" y="-868887"/>
            <a:ext cx="5472439" cy="3066788"/>
          </a:xfrm>
          <a:custGeom>
            <a:avLst/>
            <a:gdLst/>
            <a:ahLst/>
            <a:cxnLst/>
            <a:rect l="l" t="t" r="r" b="b"/>
            <a:pathLst>
              <a:path w="5472439" h="3066788">
                <a:moveTo>
                  <a:pt x="5472438" y="0"/>
                </a:moveTo>
                <a:lnTo>
                  <a:pt x="0" y="0"/>
                </a:lnTo>
                <a:lnTo>
                  <a:pt x="0" y="3066788"/>
                </a:lnTo>
                <a:lnTo>
                  <a:pt x="5472438" y="3066788"/>
                </a:lnTo>
                <a:lnTo>
                  <a:pt x="547243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794 -0.01218 L 0.4171 -0.0121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588 0.01018 L -0.52005 0.00802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08" y="-1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6363 0.03982 L 0.6263 0.03241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34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608 0.01759 L -0.72691 0.01635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42" y="-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13" grpId="0"/>
      <p:bldP spid="10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12993851" y="3784855"/>
            <a:ext cx="3521856" cy="348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endParaRPr lang="en-US" sz="2100" dirty="0">
              <a:solidFill>
                <a:srgbClr val="A2DFD9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365152" y="819150"/>
            <a:ext cx="11557696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rgbClr val="593EA1"/>
                </a:solidFill>
                <a:latin typeface="Berlin Sans FB Demi" pitchFamily="34" charset="0"/>
                <a:ea typeface="Bubblebody Neue Bold"/>
                <a:cs typeface="Adobe Devanagari" pitchFamily="18" charset="0"/>
                <a:sym typeface="Bubblebody Neue Bold"/>
              </a:rPr>
              <a:t>Methodology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BFE3CD6-AC13-9640-4C17-09A8EADB2E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152" y="8282099"/>
            <a:ext cx="824790" cy="82479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498D37B-E685-6166-2AF6-5CE1D68A0F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3618" y="7390183"/>
            <a:ext cx="4255357" cy="425535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E235904-2C33-E6FF-FB91-0865EF0CB4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243" y="8316428"/>
            <a:ext cx="824790" cy="82479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AA9CE333-DD6A-8666-5300-3EA020F53B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1859" y="-1464375"/>
            <a:ext cx="4148932" cy="414893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C2E7229-D932-D3EA-B77E-3ECD39F71D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4927" y="-260938"/>
            <a:ext cx="3570243" cy="357024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310C8A25-1F6D-0F35-146C-AB8BE572056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265" y="4085295"/>
            <a:ext cx="1150933" cy="1150933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3A7BAA84-9EA7-7C28-A121-3029D45B0AA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325" y="6721020"/>
            <a:ext cx="1360926" cy="1360926"/>
          </a:xfrm>
          <a:prstGeom prst="rect">
            <a:avLst/>
          </a:prstGeom>
        </p:spPr>
      </p:pic>
      <p:pic>
        <p:nvPicPr>
          <p:cNvPr id="1029" name="Picture 5" descr="Web design ">
            <a:extLst>
              <a:ext uri="{FF2B5EF4-FFF2-40B4-BE49-F238E27FC236}">
                <a16:creationId xmlns:a16="http://schemas.microsoft.com/office/drawing/2014/main" id="{E5DA604C-DDD0-EB85-0EED-2939C1AC5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1547" y="6781127"/>
            <a:ext cx="1218112" cy="121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Urban planning ">
            <a:extLst>
              <a:ext uri="{FF2B5EF4-FFF2-40B4-BE49-F238E27FC236}">
                <a16:creationId xmlns:a16="http://schemas.microsoft.com/office/drawing/2014/main" id="{E60ACB36-3611-060F-BA46-E49EEE34A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569" y="4134772"/>
            <a:ext cx="1106344" cy="110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Impact ">
            <a:extLst>
              <a:ext uri="{FF2B5EF4-FFF2-40B4-BE49-F238E27FC236}">
                <a16:creationId xmlns:a16="http://schemas.microsoft.com/office/drawing/2014/main" id="{78149A97-F681-824A-9B61-9F93B3D83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6839" y="6946762"/>
            <a:ext cx="1335337" cy="1335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AutoShape 13">
            <a:extLst>
              <a:ext uri="{FF2B5EF4-FFF2-40B4-BE49-F238E27FC236}">
                <a16:creationId xmlns:a16="http://schemas.microsoft.com/office/drawing/2014/main" id="{7E27F961-D09D-8034-4DA2-0E4871BEDBB4}"/>
              </a:ext>
            </a:extLst>
          </p:cNvPr>
          <p:cNvSpPr/>
          <p:nvPr/>
        </p:nvSpPr>
        <p:spPr>
          <a:xfrm flipV="1">
            <a:off x="3273663" y="5143500"/>
            <a:ext cx="1885627" cy="1571731"/>
          </a:xfrm>
          <a:prstGeom prst="line">
            <a:avLst/>
          </a:prstGeom>
          <a:ln w="66675" cap="flat">
            <a:solidFill>
              <a:srgbClr val="593EA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6" name="AutoShape 13">
            <a:extLst>
              <a:ext uri="{FF2B5EF4-FFF2-40B4-BE49-F238E27FC236}">
                <a16:creationId xmlns:a16="http://schemas.microsoft.com/office/drawing/2014/main" id="{3D904652-AE91-3D1E-67BD-82F06D98BDD2}"/>
              </a:ext>
            </a:extLst>
          </p:cNvPr>
          <p:cNvSpPr/>
          <p:nvPr/>
        </p:nvSpPr>
        <p:spPr>
          <a:xfrm flipV="1">
            <a:off x="9430638" y="5236228"/>
            <a:ext cx="1885627" cy="1571731"/>
          </a:xfrm>
          <a:prstGeom prst="line">
            <a:avLst/>
          </a:prstGeom>
          <a:ln w="66675" cap="flat">
            <a:solidFill>
              <a:srgbClr val="593EA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8AEB14D3-7EE3-BD08-2648-F1D7F17276F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7308" y="5006566"/>
            <a:ext cx="1816765" cy="1774090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4A8B2D71-A9F2-DE03-4D07-DED8A2A7E11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36060" y="5166124"/>
            <a:ext cx="1816765" cy="177409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D8E38795-D1BD-1D6B-CD75-A8BAF9B3935E}"/>
              </a:ext>
            </a:extLst>
          </p:cNvPr>
          <p:cNvSpPr txBox="1"/>
          <p:nvPr/>
        </p:nvSpPr>
        <p:spPr>
          <a:xfrm>
            <a:off x="1530269" y="8102890"/>
            <a:ext cx="2129287" cy="376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593EA1"/>
                </a:solidFill>
                <a:latin typeface="Canva Sans"/>
                <a:ea typeface="Canva Sans"/>
                <a:cs typeface="Canva Sans"/>
                <a:sym typeface="Canva Sans"/>
              </a:rPr>
              <a:t>Research Phase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C95DE88-DD5B-F8E3-EE2C-6C866DA927CA}"/>
              </a:ext>
            </a:extLst>
          </p:cNvPr>
          <p:cNvSpPr txBox="1"/>
          <p:nvPr/>
        </p:nvSpPr>
        <p:spPr>
          <a:xfrm>
            <a:off x="5196994" y="5166124"/>
            <a:ext cx="1301277" cy="376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593EA1"/>
                </a:solidFill>
                <a:latin typeface="Canva Sans"/>
                <a:ea typeface="Canva Sans"/>
                <a:cs typeface="Canva Sans"/>
                <a:sym typeface="Canva Sans"/>
              </a:rPr>
              <a:t>Planning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B78BAA1-87C7-74F3-370E-23ABAC13AE33}"/>
              </a:ext>
            </a:extLst>
          </p:cNvPr>
          <p:cNvSpPr txBox="1"/>
          <p:nvPr/>
        </p:nvSpPr>
        <p:spPr>
          <a:xfrm>
            <a:off x="8244407" y="7928875"/>
            <a:ext cx="1196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593EA1"/>
                </a:solidFill>
                <a:latin typeface="Canva Sans"/>
                <a:ea typeface="Canva Sans"/>
                <a:cs typeface="Canva Sans"/>
                <a:sym typeface="Canva Sans"/>
              </a:rPr>
              <a:t>Design</a:t>
            </a:r>
            <a:endParaRPr lang="en-US" dirty="0"/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F65C281C-51B7-44EE-9537-AA482A3DA051}"/>
              </a:ext>
            </a:extLst>
          </p:cNvPr>
          <p:cNvSpPr txBox="1"/>
          <p:nvPr/>
        </p:nvSpPr>
        <p:spPr>
          <a:xfrm>
            <a:off x="11068632" y="5392014"/>
            <a:ext cx="1761832" cy="376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593EA1"/>
                </a:solidFill>
                <a:latin typeface="Canva Sans"/>
                <a:ea typeface="Canva Sans"/>
                <a:cs typeface="Canva Sans"/>
                <a:sym typeface="Canva Sans"/>
              </a:rPr>
              <a:t>Development</a:t>
            </a:r>
            <a:endParaRPr lang="en-US" dirty="0"/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FF2CD700-246B-461D-5057-85A1161E3FFC}"/>
              </a:ext>
            </a:extLst>
          </p:cNvPr>
          <p:cNvSpPr txBox="1"/>
          <p:nvPr/>
        </p:nvSpPr>
        <p:spPr>
          <a:xfrm>
            <a:off x="14126838" y="8268991"/>
            <a:ext cx="1335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593EA1"/>
                </a:solidFill>
                <a:latin typeface="Canva Sans"/>
                <a:ea typeface="Canva Sans"/>
                <a:cs typeface="Canva Sans"/>
                <a:sym typeface="Canva Sans"/>
              </a:rPr>
              <a:t>Evaluation</a:t>
            </a:r>
            <a:endParaRPr lang="en-US" dirty="0"/>
          </a:p>
        </p:txBody>
      </p:sp>
      <p:pic>
        <p:nvPicPr>
          <p:cNvPr id="1039" name="Picture 15" descr="Html ">
            <a:extLst>
              <a:ext uri="{FF2B5EF4-FFF2-40B4-BE49-F238E27FC236}">
                <a16:creationId xmlns:a16="http://schemas.microsoft.com/office/drawing/2014/main" id="{4CE38E13-3709-7EEF-D508-10C8F6D35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980" y="8617223"/>
            <a:ext cx="1801276" cy="180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6" grpId="0" animBg="1"/>
      <p:bldP spid="90" grpId="0"/>
      <p:bldP spid="92" grpId="0"/>
      <p:bldP spid="94" grpId="0"/>
      <p:bldP spid="10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51827" y="834880"/>
            <a:ext cx="12784346" cy="1301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rgbClr val="593EA1"/>
                </a:solidFill>
                <a:latin typeface="Berlin Sans FB Demi" pitchFamily="34" charset="0"/>
                <a:ea typeface="Bubblebody Neue Bold"/>
                <a:cs typeface="Adobe Devanagari" pitchFamily="18" charset="0"/>
                <a:sym typeface="Bubblebody Neue Bold"/>
              </a:rPr>
              <a:t>from Hurdles to Highlights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9483" y="3032884"/>
            <a:ext cx="8144016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4000" b="0" i="0" dirty="0">
                <a:solidFill>
                  <a:srgbClr val="00B0F0"/>
                </a:solidFill>
                <a:effectLst/>
                <a:latin typeface="Roboto" panose="02000000000000000000" pitchFamily="2" charset="0"/>
              </a:rPr>
              <a:t>Not a Substitute for Medical Advice</a:t>
            </a:r>
            <a:br>
              <a:rPr lang="en-US" dirty="0"/>
            </a:br>
            <a:endParaRPr lang="en-US" dirty="0">
              <a:sym typeface="Canva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4401800" y="9245000"/>
            <a:ext cx="3539193" cy="199127"/>
          </a:xfrm>
          <a:custGeom>
            <a:avLst/>
            <a:gdLst/>
            <a:ahLst/>
            <a:cxnLst/>
            <a:rect l="l" t="t" r="r" b="b"/>
            <a:pathLst>
              <a:path w="3539193" h="199127">
                <a:moveTo>
                  <a:pt x="0" y="0"/>
                </a:moveTo>
                <a:lnTo>
                  <a:pt x="3539192" y="0"/>
                </a:lnTo>
                <a:lnTo>
                  <a:pt x="3539192" y="199126"/>
                </a:lnTo>
                <a:lnTo>
                  <a:pt x="0" y="199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305955" y="-1045531"/>
            <a:ext cx="7315200" cy="3616754"/>
          </a:xfrm>
          <a:custGeom>
            <a:avLst/>
            <a:gdLst/>
            <a:ahLst/>
            <a:cxnLst/>
            <a:rect l="l" t="t" r="r" b="b"/>
            <a:pathLst>
              <a:path w="7315200" h="3616754">
                <a:moveTo>
                  <a:pt x="0" y="0"/>
                </a:moveTo>
                <a:lnTo>
                  <a:pt x="7315200" y="0"/>
                </a:lnTo>
                <a:lnTo>
                  <a:pt x="7315200" y="3616754"/>
                </a:lnTo>
                <a:lnTo>
                  <a:pt x="0" y="3616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2957713" y="-495565"/>
            <a:ext cx="5472439" cy="3066788"/>
          </a:xfrm>
          <a:custGeom>
            <a:avLst/>
            <a:gdLst/>
            <a:ahLst/>
            <a:cxnLst/>
            <a:rect l="l" t="t" r="r" b="b"/>
            <a:pathLst>
              <a:path w="5472439" h="3066788">
                <a:moveTo>
                  <a:pt x="0" y="0"/>
                </a:moveTo>
                <a:lnTo>
                  <a:pt x="5472439" y="0"/>
                </a:lnTo>
                <a:lnTo>
                  <a:pt x="5472439" y="3066788"/>
                </a:lnTo>
                <a:lnTo>
                  <a:pt x="0" y="3066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0E44F7-8B36-5AF9-5270-92FEC04B34E6}"/>
              </a:ext>
            </a:extLst>
          </p:cNvPr>
          <p:cNvSpPr txBox="1"/>
          <p:nvPr/>
        </p:nvSpPr>
        <p:spPr>
          <a:xfrm>
            <a:off x="753949" y="4303774"/>
            <a:ext cx="128312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i="0" dirty="0">
                <a:solidFill>
                  <a:srgbClr val="00B0F0"/>
                </a:solidFill>
                <a:effectLst/>
                <a:latin typeface="Roboto" panose="02000000000000000000" pitchFamily="2" charset="0"/>
              </a:rPr>
              <a:t>Limited Language &amp; Accessibility Options</a:t>
            </a:r>
            <a:endParaRPr lang="en-US" sz="4000" dirty="0">
              <a:solidFill>
                <a:srgbClr val="00B0F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7F783D-2A7D-38D3-3E80-16B3CD14FEB4}"/>
              </a:ext>
            </a:extLst>
          </p:cNvPr>
          <p:cNvSpPr txBox="1"/>
          <p:nvPr/>
        </p:nvSpPr>
        <p:spPr>
          <a:xfrm>
            <a:off x="753949" y="5707987"/>
            <a:ext cx="12784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i="0" dirty="0">
                <a:solidFill>
                  <a:srgbClr val="00B0F0"/>
                </a:solidFill>
                <a:effectLst/>
                <a:latin typeface="Roboto" panose="02000000000000000000" pitchFamily="2" charset="0"/>
              </a:rPr>
              <a:t>Internet Required for Certain Features</a:t>
            </a:r>
            <a:endParaRPr lang="en-US" sz="4000" dirty="0">
              <a:solidFill>
                <a:srgbClr val="00B0F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8DE1E3-DF15-8FB6-02C2-23E2550CBF14}"/>
              </a:ext>
            </a:extLst>
          </p:cNvPr>
          <p:cNvSpPr txBox="1"/>
          <p:nvPr/>
        </p:nvSpPr>
        <p:spPr>
          <a:xfrm>
            <a:off x="769189" y="6945042"/>
            <a:ext cx="12784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B0F0"/>
                </a:solidFill>
              </a:rPr>
              <a:t>Depending on local host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04E785-E6B8-51C8-668E-E61D9ACA4C90}"/>
              </a:ext>
            </a:extLst>
          </p:cNvPr>
          <p:cNvSpPr txBox="1"/>
          <p:nvPr/>
        </p:nvSpPr>
        <p:spPr>
          <a:xfrm>
            <a:off x="779482" y="8182098"/>
            <a:ext cx="7907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00B0F0"/>
                </a:solidFill>
              </a:rPr>
              <a:t>Product`s price shown in USD  </a:t>
            </a:r>
          </a:p>
        </p:txBody>
      </p:sp>
      <p:pic>
        <p:nvPicPr>
          <p:cNvPr id="3079" name="Picture 7" descr="Translater ">
            <a:extLst>
              <a:ext uri="{FF2B5EF4-FFF2-40B4-BE49-F238E27FC236}">
                <a16:creationId xmlns:a16="http://schemas.microsoft.com/office/drawing/2014/main" id="{8CC5FAE0-3A2C-38FE-7CCA-37F58255B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4988" y="3710292"/>
            <a:ext cx="1390726" cy="1390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9" descr="Shuffle ">
            <a:extLst>
              <a:ext uri="{FF2B5EF4-FFF2-40B4-BE49-F238E27FC236}">
                <a16:creationId xmlns:a16="http://schemas.microsoft.com/office/drawing/2014/main" id="{BF0580A7-CEFC-2AFF-B668-E67931820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2657992"/>
            <a:ext cx="1030769" cy="1030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E239C9E-5D57-5F8E-097B-E9E1F5EE104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056" y="6600057"/>
            <a:ext cx="1397855" cy="13978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19EE69E-F2B1-6645-1970-64ECDB23D63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058" y="7775292"/>
            <a:ext cx="1120747" cy="112074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CE1A142-73EB-B55C-C22D-DE1A45EAF39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8495" y="5495829"/>
            <a:ext cx="1189260" cy="11892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0" grpId="0"/>
      <p:bldP spid="12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3"/>
          <p:cNvSpPr/>
          <p:nvPr/>
        </p:nvSpPr>
        <p:spPr>
          <a:xfrm flipH="1">
            <a:off x="-2736219" y="-365961"/>
            <a:ext cx="5472439" cy="3066788"/>
          </a:xfrm>
          <a:custGeom>
            <a:avLst/>
            <a:gdLst/>
            <a:ahLst/>
            <a:cxnLst/>
            <a:rect l="l" t="t" r="r" b="b"/>
            <a:pathLst>
              <a:path w="5472439" h="3066788">
                <a:moveTo>
                  <a:pt x="5472438" y="0"/>
                </a:moveTo>
                <a:lnTo>
                  <a:pt x="0" y="0"/>
                </a:lnTo>
                <a:lnTo>
                  <a:pt x="0" y="3066788"/>
                </a:lnTo>
                <a:lnTo>
                  <a:pt x="5472438" y="3066788"/>
                </a:lnTo>
                <a:lnTo>
                  <a:pt x="54724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13">
            <a:extLst>
              <a:ext uri="{FF2B5EF4-FFF2-40B4-BE49-F238E27FC236}">
                <a16:creationId xmlns:a16="http://schemas.microsoft.com/office/drawing/2014/main" id="{F4CB49DC-1DDD-A4AC-8448-7A31EF66CC57}"/>
              </a:ext>
            </a:extLst>
          </p:cNvPr>
          <p:cNvSpPr/>
          <p:nvPr/>
        </p:nvSpPr>
        <p:spPr>
          <a:xfrm rot="20558933" flipH="1">
            <a:off x="15519462" y="8251936"/>
            <a:ext cx="5472439" cy="3066788"/>
          </a:xfrm>
          <a:custGeom>
            <a:avLst/>
            <a:gdLst/>
            <a:ahLst/>
            <a:cxnLst/>
            <a:rect l="l" t="t" r="r" b="b"/>
            <a:pathLst>
              <a:path w="5472439" h="3066788">
                <a:moveTo>
                  <a:pt x="5472438" y="0"/>
                </a:moveTo>
                <a:lnTo>
                  <a:pt x="0" y="0"/>
                </a:lnTo>
                <a:lnTo>
                  <a:pt x="0" y="3066788"/>
                </a:lnTo>
                <a:lnTo>
                  <a:pt x="5472438" y="3066788"/>
                </a:lnTo>
                <a:lnTo>
                  <a:pt x="54724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DBBEDBEF-85BD-4089-67BC-567E4F8A09E6}"/>
              </a:ext>
            </a:extLst>
          </p:cNvPr>
          <p:cNvSpPr txBox="1"/>
          <p:nvPr/>
        </p:nvSpPr>
        <p:spPr>
          <a:xfrm>
            <a:off x="3825947" y="952500"/>
            <a:ext cx="11353800" cy="13107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rgbClr val="593EA1"/>
                </a:solidFill>
                <a:latin typeface="Bubblebody Neue Bold"/>
                <a:ea typeface="Bubblebody Neue Bold"/>
                <a:cs typeface="Bubblebody Neue Bold"/>
                <a:sym typeface="Bubblebody Neue Bold"/>
              </a:rPr>
              <a:t>Future Enhancements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1B54A0-1E54-C357-6952-8250C6A4D3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43300"/>
            <a:ext cx="16383000" cy="5636951"/>
          </a:xfrm>
          <a:prstGeom prst="rect">
            <a:avLst/>
          </a:prstGeom>
        </p:spPr>
      </p:pic>
      <p:sp>
        <p:nvSpPr>
          <p:cNvPr id="7" name="Freeform 2">
            <a:extLst>
              <a:ext uri="{FF2B5EF4-FFF2-40B4-BE49-F238E27FC236}">
                <a16:creationId xmlns:a16="http://schemas.microsoft.com/office/drawing/2014/main" id="{E2859898-D1F1-D270-C267-C5DE86666EEF}"/>
              </a:ext>
            </a:extLst>
          </p:cNvPr>
          <p:cNvSpPr/>
          <p:nvPr/>
        </p:nvSpPr>
        <p:spPr>
          <a:xfrm>
            <a:off x="15090188" y="714467"/>
            <a:ext cx="2103303" cy="2182520"/>
          </a:xfrm>
          <a:custGeom>
            <a:avLst/>
            <a:gdLst/>
            <a:ahLst/>
            <a:cxnLst/>
            <a:rect l="l" t="t" r="r" b="b"/>
            <a:pathLst>
              <a:path w="3561172" h="4114800">
                <a:moveTo>
                  <a:pt x="0" y="0"/>
                </a:moveTo>
                <a:lnTo>
                  <a:pt x="3561172" y="0"/>
                </a:lnTo>
                <a:lnTo>
                  <a:pt x="35611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8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DA994-62E7-25CE-E7B4-60D3EF618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FFB62E7-0D29-20CC-0559-D5FD9561AF58}"/>
              </a:ext>
            </a:extLst>
          </p:cNvPr>
          <p:cNvSpPr txBox="1"/>
          <p:nvPr/>
        </p:nvSpPr>
        <p:spPr>
          <a:xfrm>
            <a:off x="7190554" y="4702545"/>
            <a:ext cx="7455248" cy="2737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18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8000" b="1" kern="0" dirty="0">
                <a:solidFill>
                  <a:srgbClr val="7030A0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O</a:t>
            </a:r>
            <a:r>
              <a:rPr lang="en-US" sz="8000" b="1" kern="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ur </a:t>
            </a:r>
            <a:r>
              <a:rPr lang="en-US" sz="8000" b="1" kern="0" dirty="0">
                <a:solidFill>
                  <a:srgbClr val="7030A0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V</a:t>
            </a:r>
            <a:r>
              <a:rPr lang="en-US" sz="8000" b="1" kern="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ision</a:t>
            </a:r>
          </a:p>
          <a:p>
            <a:pPr algn="ctr">
              <a:lnSpc>
                <a:spcPts val="11200"/>
              </a:lnSpc>
            </a:pPr>
            <a:endParaRPr lang="en-US" sz="8000" b="1" dirty="0">
              <a:solidFill>
                <a:srgbClr val="593EA1"/>
              </a:solidFill>
              <a:latin typeface="Berlin Sans FB Demi" pitchFamily="34" charset="0"/>
              <a:ea typeface="Bubblebody Neue Bold"/>
              <a:cs typeface="Adobe Devanagari" pitchFamily="18" charset="0"/>
              <a:sym typeface="Bubblebody Neue Bold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1DBEB58-BFCC-8463-3438-41EED97C1C0C}"/>
              </a:ext>
            </a:extLst>
          </p:cNvPr>
          <p:cNvSpPr/>
          <p:nvPr/>
        </p:nvSpPr>
        <p:spPr>
          <a:xfrm>
            <a:off x="3401255" y="2002625"/>
            <a:ext cx="3539193" cy="199127"/>
          </a:xfrm>
          <a:custGeom>
            <a:avLst/>
            <a:gdLst/>
            <a:ahLst/>
            <a:cxnLst/>
            <a:rect l="l" t="t" r="r" b="b"/>
            <a:pathLst>
              <a:path w="3539193" h="199127">
                <a:moveTo>
                  <a:pt x="0" y="0"/>
                </a:moveTo>
                <a:lnTo>
                  <a:pt x="3539193" y="0"/>
                </a:lnTo>
                <a:lnTo>
                  <a:pt x="3539193" y="199126"/>
                </a:lnTo>
                <a:lnTo>
                  <a:pt x="0" y="199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F0B98D1-3332-C914-D3D1-6A1AF185A24F}"/>
              </a:ext>
            </a:extLst>
          </p:cNvPr>
          <p:cNvSpPr/>
          <p:nvPr/>
        </p:nvSpPr>
        <p:spPr>
          <a:xfrm>
            <a:off x="8839200" y="6169687"/>
            <a:ext cx="3539193" cy="199127"/>
          </a:xfrm>
          <a:custGeom>
            <a:avLst/>
            <a:gdLst/>
            <a:ahLst/>
            <a:cxnLst/>
            <a:rect l="l" t="t" r="r" b="b"/>
            <a:pathLst>
              <a:path w="3539193" h="199127">
                <a:moveTo>
                  <a:pt x="0" y="0"/>
                </a:moveTo>
                <a:lnTo>
                  <a:pt x="3539193" y="0"/>
                </a:lnTo>
                <a:lnTo>
                  <a:pt x="3539193" y="199127"/>
                </a:lnTo>
                <a:lnTo>
                  <a:pt x="0" y="199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58ACBB6-D058-C32A-A174-494285002E13}"/>
              </a:ext>
            </a:extLst>
          </p:cNvPr>
          <p:cNvSpPr/>
          <p:nvPr/>
        </p:nvSpPr>
        <p:spPr>
          <a:xfrm>
            <a:off x="15163800" y="-1193456"/>
            <a:ext cx="7315200" cy="3616754"/>
          </a:xfrm>
          <a:custGeom>
            <a:avLst/>
            <a:gdLst/>
            <a:ahLst/>
            <a:cxnLst/>
            <a:rect l="l" t="t" r="r" b="b"/>
            <a:pathLst>
              <a:path w="7315200" h="3616754">
                <a:moveTo>
                  <a:pt x="0" y="0"/>
                </a:moveTo>
                <a:lnTo>
                  <a:pt x="7315200" y="0"/>
                </a:lnTo>
                <a:lnTo>
                  <a:pt x="7315200" y="3616754"/>
                </a:lnTo>
                <a:lnTo>
                  <a:pt x="0" y="3616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3A6B1CC-DAD6-AE7C-2DDF-D2FB53CE751D}"/>
              </a:ext>
            </a:extLst>
          </p:cNvPr>
          <p:cNvSpPr/>
          <p:nvPr/>
        </p:nvSpPr>
        <p:spPr>
          <a:xfrm>
            <a:off x="-2992795" y="-495565"/>
            <a:ext cx="5472439" cy="3066788"/>
          </a:xfrm>
          <a:custGeom>
            <a:avLst/>
            <a:gdLst/>
            <a:ahLst/>
            <a:cxnLst/>
            <a:rect l="l" t="t" r="r" b="b"/>
            <a:pathLst>
              <a:path w="5472439" h="3066788">
                <a:moveTo>
                  <a:pt x="0" y="0"/>
                </a:moveTo>
                <a:lnTo>
                  <a:pt x="5472439" y="0"/>
                </a:lnTo>
                <a:lnTo>
                  <a:pt x="5472439" y="3066788"/>
                </a:lnTo>
                <a:lnTo>
                  <a:pt x="0" y="3066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Google Shape;1057;p44">
            <a:extLst>
              <a:ext uri="{FF2B5EF4-FFF2-40B4-BE49-F238E27FC236}">
                <a16:creationId xmlns:a16="http://schemas.microsoft.com/office/drawing/2014/main" id="{9B43D09E-9F6D-E603-B0F2-92E64894D28D}"/>
              </a:ext>
            </a:extLst>
          </p:cNvPr>
          <p:cNvSpPr txBox="1">
            <a:spLocks noGrp="1"/>
          </p:cNvSpPr>
          <p:nvPr/>
        </p:nvSpPr>
        <p:spPr>
          <a:xfrm>
            <a:off x="1834114" y="2282282"/>
            <a:ext cx="11289972" cy="2556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2800" dirty="0"/>
              <a:t>Supporting people with dietary sensitivities—like diabetes, gluten, and lactose intolerance—through smart tools and trusted information to make healthy living easier, more accessible, and personalized.</a:t>
            </a:r>
          </a:p>
          <a:p>
            <a:pPr marL="0" lvl="0" indent="0"/>
            <a:endParaRPr sz="2800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6" name="Google Shape;1057;p44">
            <a:extLst>
              <a:ext uri="{FF2B5EF4-FFF2-40B4-BE49-F238E27FC236}">
                <a16:creationId xmlns:a16="http://schemas.microsoft.com/office/drawing/2014/main" id="{581AA506-E187-C6FF-7BE2-DD86E6CF076F}"/>
              </a:ext>
            </a:extLst>
          </p:cNvPr>
          <p:cNvSpPr txBox="1">
            <a:spLocks noGrp="1"/>
          </p:cNvSpPr>
          <p:nvPr/>
        </p:nvSpPr>
        <p:spPr>
          <a:xfrm>
            <a:off x="6974954" y="6536368"/>
            <a:ext cx="11097446" cy="232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 rtl="0">
              <a:buNone/>
            </a:pPr>
            <a:r>
              <a:rPr lang="en-US" sz="2800" dirty="0"/>
              <a:t>To be the go-to digital platform for health-conscious individuals, making well-being accessible, personalized, and part of daily life — guided by knowledge, care, and community.</a:t>
            </a:r>
            <a:endParaRPr sz="2800" dirty="0">
              <a:latin typeface="Comic Sans MS" panose="030F0702030302020204" pitchFamily="66" charset="0"/>
            </a:endParaRP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DCC78FB5-A009-0D74-0579-DFEED953200E}"/>
              </a:ext>
            </a:extLst>
          </p:cNvPr>
          <p:cNvSpPr txBox="1"/>
          <p:nvPr/>
        </p:nvSpPr>
        <p:spPr>
          <a:xfrm>
            <a:off x="1662103" y="633693"/>
            <a:ext cx="8437991" cy="2737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18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8000" b="1" kern="0" dirty="0">
                <a:solidFill>
                  <a:srgbClr val="7030A0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O</a:t>
            </a:r>
            <a:r>
              <a:rPr lang="en-US" sz="8000" b="1" kern="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ur Mission</a:t>
            </a:r>
          </a:p>
          <a:p>
            <a:pPr algn="ctr">
              <a:lnSpc>
                <a:spcPts val="11200"/>
              </a:lnSpc>
            </a:pPr>
            <a:endParaRPr lang="en-US" sz="8000" b="1" dirty="0">
              <a:solidFill>
                <a:srgbClr val="593EA1"/>
              </a:solidFill>
              <a:latin typeface="Berlin Sans FB Demi" pitchFamily="34" charset="0"/>
              <a:ea typeface="Bubblebody Neue Bold"/>
              <a:cs typeface="Adobe Devanagari" pitchFamily="18" charset="0"/>
              <a:sym typeface="Bubblebody Neue Bold"/>
            </a:endParaRPr>
          </a:p>
        </p:txBody>
      </p:sp>
      <p:pic>
        <p:nvPicPr>
          <p:cNvPr id="4098" name="Picture 2" descr="Target ">
            <a:extLst>
              <a:ext uri="{FF2B5EF4-FFF2-40B4-BE49-F238E27FC236}">
                <a16:creationId xmlns:a16="http://schemas.microsoft.com/office/drawing/2014/main" id="{2AEADA31-6AB3-D854-5CF9-B2FC3AB8B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793320"/>
            <a:ext cx="1260894" cy="1260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Opportunity ">
            <a:extLst>
              <a:ext uri="{FF2B5EF4-FFF2-40B4-BE49-F238E27FC236}">
                <a16:creationId xmlns:a16="http://schemas.microsoft.com/office/drawing/2014/main" id="{D4488442-879F-9D7F-FF1C-D6CD116D0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6174" y="5009468"/>
            <a:ext cx="1153749" cy="1153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CDD85B-5D5A-CD61-B46B-6A017A15F620}"/>
              </a:ext>
            </a:extLst>
          </p:cNvPr>
          <p:cNvSpPr txBox="1"/>
          <p:nvPr/>
        </p:nvSpPr>
        <p:spPr>
          <a:xfrm>
            <a:off x="1506028" y="9064309"/>
            <a:ext cx="152759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7030A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'Together, we can make life better for those with dietary restrictions.'</a:t>
            </a:r>
          </a:p>
        </p:txBody>
      </p:sp>
    </p:spTree>
    <p:extLst>
      <p:ext uri="{BB962C8B-B14F-4D97-AF65-F5344CB8AC3E}">
        <p14:creationId xmlns:p14="http://schemas.microsoft.com/office/powerpoint/2010/main" val="174467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15" grpId="0"/>
      <p:bldP spid="16" grpId="0"/>
      <p:bldP spid="18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856094" y="1866900"/>
            <a:ext cx="12103448" cy="2737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18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8000" b="1" kern="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User Experience and Design</a:t>
            </a:r>
          </a:p>
          <a:p>
            <a:pPr algn="ctr">
              <a:lnSpc>
                <a:spcPts val="11200"/>
              </a:lnSpc>
            </a:pPr>
            <a:endParaRPr lang="en-US" sz="8000" b="1" dirty="0">
              <a:solidFill>
                <a:srgbClr val="593EA1"/>
              </a:solidFill>
              <a:latin typeface="Berlin Sans FB Demi" pitchFamily="34" charset="0"/>
              <a:ea typeface="Bubblebody Neue Bold"/>
              <a:cs typeface="Adobe Devanagari" pitchFamily="18" charset="0"/>
              <a:sym typeface="Bubblebody Neue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4554200" y="9668773"/>
            <a:ext cx="3539193" cy="199127"/>
          </a:xfrm>
          <a:custGeom>
            <a:avLst/>
            <a:gdLst/>
            <a:ahLst/>
            <a:cxnLst/>
            <a:rect l="l" t="t" r="r" b="b"/>
            <a:pathLst>
              <a:path w="3539193" h="199127">
                <a:moveTo>
                  <a:pt x="0" y="0"/>
                </a:moveTo>
                <a:lnTo>
                  <a:pt x="3539193" y="0"/>
                </a:lnTo>
                <a:lnTo>
                  <a:pt x="3539193" y="199126"/>
                </a:lnTo>
                <a:lnTo>
                  <a:pt x="0" y="199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461410" y="-1035357"/>
            <a:ext cx="7315200" cy="3616754"/>
          </a:xfrm>
          <a:custGeom>
            <a:avLst/>
            <a:gdLst/>
            <a:ahLst/>
            <a:cxnLst/>
            <a:rect l="l" t="t" r="r" b="b"/>
            <a:pathLst>
              <a:path w="7315200" h="3616754">
                <a:moveTo>
                  <a:pt x="0" y="0"/>
                </a:moveTo>
                <a:lnTo>
                  <a:pt x="7315200" y="0"/>
                </a:lnTo>
                <a:lnTo>
                  <a:pt x="7315200" y="3616754"/>
                </a:lnTo>
                <a:lnTo>
                  <a:pt x="0" y="3616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2736220" y="-310015"/>
            <a:ext cx="5472439" cy="3066788"/>
          </a:xfrm>
          <a:custGeom>
            <a:avLst/>
            <a:gdLst/>
            <a:ahLst/>
            <a:cxnLst/>
            <a:rect l="l" t="t" r="r" b="b"/>
            <a:pathLst>
              <a:path w="5472439" h="3066788">
                <a:moveTo>
                  <a:pt x="0" y="0"/>
                </a:moveTo>
                <a:lnTo>
                  <a:pt x="5472439" y="0"/>
                </a:lnTo>
                <a:lnTo>
                  <a:pt x="5472439" y="3066788"/>
                </a:lnTo>
                <a:lnTo>
                  <a:pt x="0" y="3066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D42A83-8AC1-9BBF-F67A-5081137602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949" y="3771900"/>
            <a:ext cx="11824907" cy="5103382"/>
          </a:xfrm>
          <a:prstGeom prst="rect">
            <a:avLst/>
          </a:prstGeom>
        </p:spPr>
      </p:pic>
      <p:sp>
        <p:nvSpPr>
          <p:cNvPr id="11" name="TextBox 2"/>
          <p:cNvSpPr txBox="1"/>
          <p:nvPr/>
        </p:nvSpPr>
        <p:spPr>
          <a:xfrm>
            <a:off x="3429555" y="773020"/>
            <a:ext cx="11557696" cy="130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rgbClr val="593EA1"/>
                </a:solidFill>
                <a:latin typeface="Berlin Sans FB Demi" pitchFamily="34" charset="0"/>
                <a:ea typeface="Bubblebody Neue Bold"/>
                <a:cs typeface="Adobe Devanagari" pitchFamily="18" charset="0"/>
                <a:sym typeface="Bubblebody Neue Bold"/>
              </a:rPr>
              <a:t>Features</a:t>
            </a:r>
          </a:p>
        </p:txBody>
      </p:sp>
      <p:sp>
        <p:nvSpPr>
          <p:cNvPr id="12" name="TextBox 3"/>
          <p:cNvSpPr txBox="1"/>
          <p:nvPr/>
        </p:nvSpPr>
        <p:spPr>
          <a:xfrm>
            <a:off x="-2057400" y="7048500"/>
            <a:ext cx="7724242" cy="2737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endParaRPr lang="en-US" sz="8000" b="1" kern="0" dirty="0">
              <a:solidFill>
                <a:srgbClr val="7030A0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ts val="11200"/>
              </a:lnSpc>
            </a:pPr>
            <a:endParaRPr lang="en-US" sz="8000" b="1" dirty="0">
              <a:solidFill>
                <a:srgbClr val="593EA1"/>
              </a:solidFill>
              <a:latin typeface="Berlin Sans FB Demi" pitchFamily="34" charset="0"/>
              <a:ea typeface="Bubblebody Neue Bold"/>
              <a:cs typeface="Adobe Devanagari" pitchFamily="18" charset="0"/>
              <a:sym typeface="Bubblebody Neue Bold"/>
            </a:endParaRPr>
          </a:p>
        </p:txBody>
      </p:sp>
      <p:sp>
        <p:nvSpPr>
          <p:cNvPr id="13" name="TextBox 3"/>
          <p:cNvSpPr txBox="1"/>
          <p:nvPr/>
        </p:nvSpPr>
        <p:spPr>
          <a:xfrm>
            <a:off x="-1143002" y="8572500"/>
            <a:ext cx="5475687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1" kern="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You can visit us on :</a:t>
            </a:r>
          </a:p>
          <a:p>
            <a:pPr algn="ctr">
              <a:lnSpc>
                <a:spcPts val="11200"/>
              </a:lnSpc>
            </a:pPr>
            <a:endParaRPr lang="en-US" sz="8000" b="1" dirty="0">
              <a:solidFill>
                <a:srgbClr val="593EA1"/>
              </a:solidFill>
              <a:latin typeface="Berlin Sans FB Demi" pitchFamily="34" charset="0"/>
              <a:ea typeface="Bubblebody Neue Bold"/>
              <a:cs typeface="Adobe Devanagari" pitchFamily="18" charset="0"/>
              <a:sym typeface="Bubblebody Neue 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23658" y="9345607"/>
            <a:ext cx="9144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https://arwaseada.github.io/Live_It_Right/Graduation%20project%202025/Home-page/index.html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2" grpId="0"/>
      <p:bldP spid="1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7086600" y="9119567"/>
            <a:ext cx="3539193" cy="199127"/>
          </a:xfrm>
          <a:custGeom>
            <a:avLst/>
            <a:gdLst/>
            <a:ahLst/>
            <a:cxnLst/>
            <a:rect l="l" t="t" r="r" b="b"/>
            <a:pathLst>
              <a:path w="3539193" h="199127">
                <a:moveTo>
                  <a:pt x="0" y="0"/>
                </a:moveTo>
                <a:lnTo>
                  <a:pt x="3539192" y="0"/>
                </a:lnTo>
                <a:lnTo>
                  <a:pt x="3539192" y="199126"/>
                </a:lnTo>
                <a:lnTo>
                  <a:pt x="0" y="199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flipH="1">
            <a:off x="-2736219" y="-365961"/>
            <a:ext cx="5472439" cy="3066788"/>
          </a:xfrm>
          <a:custGeom>
            <a:avLst/>
            <a:gdLst/>
            <a:ahLst/>
            <a:cxnLst/>
            <a:rect l="l" t="t" r="r" b="b"/>
            <a:pathLst>
              <a:path w="5472439" h="3066788">
                <a:moveTo>
                  <a:pt x="5472438" y="0"/>
                </a:moveTo>
                <a:lnTo>
                  <a:pt x="0" y="0"/>
                </a:lnTo>
                <a:lnTo>
                  <a:pt x="0" y="3066788"/>
                </a:lnTo>
                <a:lnTo>
                  <a:pt x="5472438" y="3066788"/>
                </a:lnTo>
                <a:lnTo>
                  <a:pt x="547243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122" name="Picture 2" descr="Background Q&amp;a Royalty-Free Images ...">
            <a:extLst>
              <a:ext uri="{FF2B5EF4-FFF2-40B4-BE49-F238E27FC236}">
                <a16:creationId xmlns:a16="http://schemas.microsoft.com/office/drawing/2014/main" id="{1034CAE9-48AE-A0A7-B588-75CC6095A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167433"/>
            <a:ext cx="9493880" cy="777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Question mark ">
            <a:extLst>
              <a:ext uri="{FF2B5EF4-FFF2-40B4-BE49-F238E27FC236}">
                <a16:creationId xmlns:a16="http://schemas.microsoft.com/office/drawing/2014/main" id="{6D082B3B-495E-FF38-2366-FAB4DE51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0200" y="0"/>
            <a:ext cx="14478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Brainstorm ">
            <a:extLst>
              <a:ext uri="{FF2B5EF4-FFF2-40B4-BE49-F238E27FC236}">
                <a16:creationId xmlns:a16="http://schemas.microsoft.com/office/drawing/2014/main" id="{946B31FB-477E-7CF8-8D2D-C8D7F6520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8" y="8564592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reeform 13">
            <a:extLst>
              <a:ext uri="{FF2B5EF4-FFF2-40B4-BE49-F238E27FC236}">
                <a16:creationId xmlns:a16="http://schemas.microsoft.com/office/drawing/2014/main" id="{F4CB49DC-1DDD-A4AC-8448-7A31EF66CC57}"/>
              </a:ext>
            </a:extLst>
          </p:cNvPr>
          <p:cNvSpPr/>
          <p:nvPr/>
        </p:nvSpPr>
        <p:spPr>
          <a:xfrm rot="20558933" flipH="1">
            <a:off x="15519462" y="8251936"/>
            <a:ext cx="5472439" cy="3066788"/>
          </a:xfrm>
          <a:custGeom>
            <a:avLst/>
            <a:gdLst/>
            <a:ahLst/>
            <a:cxnLst/>
            <a:rect l="l" t="t" r="r" b="b"/>
            <a:pathLst>
              <a:path w="5472439" h="3066788">
                <a:moveTo>
                  <a:pt x="5472438" y="0"/>
                </a:moveTo>
                <a:lnTo>
                  <a:pt x="0" y="0"/>
                </a:lnTo>
                <a:lnTo>
                  <a:pt x="0" y="3066788"/>
                </a:lnTo>
                <a:lnTo>
                  <a:pt x="5472438" y="3066788"/>
                </a:lnTo>
                <a:lnTo>
                  <a:pt x="547243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64D5C0-1FF5-2F3C-DC81-58166036B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827C542-0E9C-7938-35BD-31443AE25B0B}"/>
              </a:ext>
            </a:extLst>
          </p:cNvPr>
          <p:cNvSpPr/>
          <p:nvPr/>
        </p:nvSpPr>
        <p:spPr>
          <a:xfrm>
            <a:off x="14730732" y="-233351"/>
            <a:ext cx="5264788" cy="4114800"/>
          </a:xfrm>
          <a:custGeom>
            <a:avLst/>
            <a:gdLst/>
            <a:ahLst/>
            <a:cxnLst/>
            <a:rect l="l" t="t" r="r" b="b"/>
            <a:pathLst>
              <a:path w="5264788" h="4114800">
                <a:moveTo>
                  <a:pt x="0" y="0"/>
                </a:moveTo>
                <a:lnTo>
                  <a:pt x="5264788" y="0"/>
                </a:lnTo>
                <a:lnTo>
                  <a:pt x="52647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7ED95FC-7C02-7EF8-4FBD-DFE865658199}"/>
              </a:ext>
            </a:extLst>
          </p:cNvPr>
          <p:cNvSpPr/>
          <p:nvPr/>
        </p:nvSpPr>
        <p:spPr>
          <a:xfrm>
            <a:off x="556270" y="5495908"/>
            <a:ext cx="3021165" cy="4315949"/>
          </a:xfrm>
          <a:custGeom>
            <a:avLst/>
            <a:gdLst/>
            <a:ahLst/>
            <a:cxnLst/>
            <a:rect l="l" t="t" r="r" b="b"/>
            <a:pathLst>
              <a:path w="3021165" h="4315949">
                <a:moveTo>
                  <a:pt x="0" y="0"/>
                </a:moveTo>
                <a:lnTo>
                  <a:pt x="3021165" y="0"/>
                </a:lnTo>
                <a:lnTo>
                  <a:pt x="3021165" y="4315949"/>
                </a:lnTo>
                <a:lnTo>
                  <a:pt x="0" y="43159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27EEEEF-805B-467E-468B-90DD10328D46}"/>
              </a:ext>
            </a:extLst>
          </p:cNvPr>
          <p:cNvSpPr/>
          <p:nvPr/>
        </p:nvSpPr>
        <p:spPr>
          <a:xfrm>
            <a:off x="6681631" y="7653883"/>
            <a:ext cx="3644996" cy="3754209"/>
          </a:xfrm>
          <a:custGeom>
            <a:avLst/>
            <a:gdLst/>
            <a:ahLst/>
            <a:cxnLst/>
            <a:rect l="l" t="t" r="r" b="b"/>
            <a:pathLst>
              <a:path w="3644996" h="3754209">
                <a:moveTo>
                  <a:pt x="0" y="0"/>
                </a:moveTo>
                <a:lnTo>
                  <a:pt x="3644996" y="0"/>
                </a:lnTo>
                <a:lnTo>
                  <a:pt x="3644996" y="3754209"/>
                </a:lnTo>
                <a:lnTo>
                  <a:pt x="0" y="37542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D1AC4F4-5A83-C56F-9818-F1AB4A0EA157}"/>
              </a:ext>
            </a:extLst>
          </p:cNvPr>
          <p:cNvSpPr/>
          <p:nvPr/>
        </p:nvSpPr>
        <p:spPr>
          <a:xfrm>
            <a:off x="8433297" y="259320"/>
            <a:ext cx="3786660" cy="2630008"/>
          </a:xfrm>
          <a:custGeom>
            <a:avLst/>
            <a:gdLst/>
            <a:ahLst/>
            <a:cxnLst/>
            <a:rect l="l" t="t" r="r" b="b"/>
            <a:pathLst>
              <a:path w="3786660" h="2630008">
                <a:moveTo>
                  <a:pt x="0" y="0"/>
                </a:moveTo>
                <a:lnTo>
                  <a:pt x="3786660" y="0"/>
                </a:lnTo>
                <a:lnTo>
                  <a:pt x="3786660" y="2630008"/>
                </a:lnTo>
                <a:lnTo>
                  <a:pt x="0" y="26300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AC3DCFE-D14F-741E-98D7-420811BDE60A}"/>
              </a:ext>
            </a:extLst>
          </p:cNvPr>
          <p:cNvSpPr txBox="1"/>
          <p:nvPr/>
        </p:nvSpPr>
        <p:spPr>
          <a:xfrm>
            <a:off x="2932571" y="4097286"/>
            <a:ext cx="12252309" cy="151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49"/>
              </a:lnSpc>
            </a:pPr>
            <a:r>
              <a:rPr lang="en-US" sz="12741" b="1" dirty="0">
                <a:solidFill>
                  <a:srgbClr val="FFFDF9"/>
                </a:solidFill>
                <a:latin typeface="Berlin Sans FB Demi" pitchFamily="34" charset="0"/>
                <a:ea typeface="Bubblebody Neue Bold"/>
                <a:cs typeface="Adobe Devanagari" pitchFamily="18" charset="0"/>
                <a:sym typeface="Bubblebody Neue Bold"/>
              </a:rPr>
              <a:t>THANK YOU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81098A0-F8A0-5C70-1EEB-A8BAF3E4774C}"/>
              </a:ext>
            </a:extLst>
          </p:cNvPr>
          <p:cNvSpPr/>
          <p:nvPr/>
        </p:nvSpPr>
        <p:spPr>
          <a:xfrm>
            <a:off x="-1300606" y="327725"/>
            <a:ext cx="5472439" cy="3066788"/>
          </a:xfrm>
          <a:custGeom>
            <a:avLst/>
            <a:gdLst/>
            <a:ahLst/>
            <a:cxnLst/>
            <a:rect l="l" t="t" r="r" b="b"/>
            <a:pathLst>
              <a:path w="5472439" h="3066788">
                <a:moveTo>
                  <a:pt x="0" y="0"/>
                </a:moveTo>
                <a:lnTo>
                  <a:pt x="5472439" y="0"/>
                </a:lnTo>
                <a:lnTo>
                  <a:pt x="5472439" y="3066787"/>
                </a:lnTo>
                <a:lnTo>
                  <a:pt x="0" y="306678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5028B85-65E2-8700-86AA-F7D5FB3793FC}"/>
              </a:ext>
            </a:extLst>
          </p:cNvPr>
          <p:cNvSpPr/>
          <p:nvPr/>
        </p:nvSpPr>
        <p:spPr>
          <a:xfrm>
            <a:off x="14523081" y="6556075"/>
            <a:ext cx="5472439" cy="3066788"/>
          </a:xfrm>
          <a:custGeom>
            <a:avLst/>
            <a:gdLst/>
            <a:ahLst/>
            <a:cxnLst/>
            <a:rect l="l" t="t" r="r" b="b"/>
            <a:pathLst>
              <a:path w="5472439" h="3066788">
                <a:moveTo>
                  <a:pt x="0" y="0"/>
                </a:moveTo>
                <a:lnTo>
                  <a:pt x="5472438" y="0"/>
                </a:lnTo>
                <a:lnTo>
                  <a:pt x="5472438" y="3066788"/>
                </a:lnTo>
                <a:lnTo>
                  <a:pt x="0" y="30667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64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1969</TotalTime>
  <Words>277</Words>
  <Application>Microsoft Office PowerPoint</Application>
  <PresentationFormat>Custom</PresentationFormat>
  <Paragraphs>53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Roboto</vt:lpstr>
      <vt:lpstr>Cambria</vt:lpstr>
      <vt:lpstr>Bubblebody Neue Bold</vt:lpstr>
      <vt:lpstr>Comic Sans MS</vt:lpstr>
      <vt:lpstr>Arial</vt:lpstr>
      <vt:lpstr>Berlin Sans FB Demi</vt:lpstr>
      <vt:lpstr>Calibri</vt:lpstr>
      <vt:lpstr>Canva Sans Bold</vt:lpstr>
      <vt:lpstr>Canva Sans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Green Abstract Professional Research Presentation</dc:title>
  <dc:creator>hp</dc:creator>
  <cp:lastModifiedBy>Ehab Hibah</cp:lastModifiedBy>
  <cp:revision>55</cp:revision>
  <dcterms:created xsi:type="dcterms:W3CDTF">2006-08-16T00:00:00Z</dcterms:created>
  <dcterms:modified xsi:type="dcterms:W3CDTF">2025-06-01T10:58:35Z</dcterms:modified>
  <dc:identifier>DAGl3FRvKXg</dc:identifier>
</cp:coreProperties>
</file>